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22282E"/>
                </a:solidFill>
                <a:latin typeface="Noto Sans CJK KR"/>
                <a:ea typeface="Noto Sans CJK KR"/>
              </a:rPr>
              <a:t>마켓센싱 리포트 제작 프로세스 혁신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현행(As-Is) 수작업 중심 프로세스의 병목을 진단하고, AI 기반 To-Be로 재설계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1556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417320"/>
            <a:ext cx="1234440" cy="310896"/>
          </a:xfrm>
          <a:prstGeom prst="roundRect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AS-IS  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4447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4B555E"/>
                </a:solidFill>
                <a:latin typeface="Noto Sans CJK KR"/>
                <a:ea typeface="Noto Sans CJK KR"/>
              </a:rPr>
              <a:t>소스 수집부터 인사이트까지 대부분 수작업 · 담당자 역량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① 정보수집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4개 소스
수동 취합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79" y="2194560"/>
            <a:ext cx="182880" cy="201168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② 주제 선정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우선순위
수동 판단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3944" y="2194560"/>
            <a:ext cx="182880" cy="201168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70248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③ 요약·번역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기사별 용어·
차별점 수작업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2194560"/>
            <a:ext cx="182880" cy="201168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3912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④ 통계·시각화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수치 보완·
표/이미지 제작</a:t>
            </a:r>
          </a:p>
        </p:txBody>
      </p:sp>
      <p:sp>
        <p:nvSpPr>
          <p:cNvPr id="15" name="Chevron 14"/>
          <p:cNvSpPr/>
          <p:nvPr/>
        </p:nvSpPr>
        <p:spPr>
          <a:xfrm>
            <a:off x="7891271" y="2194560"/>
            <a:ext cx="182880" cy="201168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37576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⑤ 인사이트 도출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담당자
암묵지 의존</a:t>
            </a:r>
          </a:p>
        </p:txBody>
      </p:sp>
      <p:sp>
        <p:nvSpPr>
          <p:cNvPr id="17" name="Chevron 16"/>
          <p:cNvSpPr/>
          <p:nvPr/>
        </p:nvSpPr>
        <p:spPr>
          <a:xfrm>
            <a:off x="9774936" y="2194560"/>
            <a:ext cx="182880" cy="201168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21240" y="1874519"/>
            <a:ext cx="1755648" cy="841248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2282E"/>
                </a:solidFill>
                <a:latin typeface="Noto Sans CJK KR"/>
                <a:ea typeface="Noto Sans CJK KR"/>
              </a:rPr>
              <a:t>⑥ 리포트 작성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취합·편집·
발송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25496"/>
            <a:ext cx="5522976" cy="566928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▲ 병목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7A381C"/>
                </a:solidFill>
                <a:latin typeface="Noto Sans CJK KR"/>
                <a:ea typeface="Noto Sans CJK KR"/>
              </a:rPr>
              <a:t>① 수집 · ③ 요약·번역 · ④ 시각화 ─ 반복 수작업에 시간 집중 (시간 병목)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6" y="2825496"/>
            <a:ext cx="3639312" cy="566928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▲ 병목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7A381C"/>
                </a:solidFill>
                <a:latin typeface="Noto Sans CJK KR"/>
                <a:ea typeface="Noto Sans CJK KR"/>
              </a:rPr>
              <a:t>⑤ 인사이트·우선순위가 개인 암묵지에 의존 (품질·속인화 병목)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43400"/>
            <a:ext cx="1234440" cy="31089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TO-BE  개선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370832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수집~시각화는 AI가 자동화, 사람은 인사이트·암묵지 큐레이션에 집중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0600"/>
            <a:ext cx="1755648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E6E69"/>
                </a:solidFill>
                <a:latin typeface="Noto Sans CJK KR"/>
                <a:ea typeface="Noto Sans CJK KR"/>
              </a:rPr>
              <a:t>① AI 자동수집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RSS·크롤링·
검색 자동화</a:t>
            </a:r>
          </a:p>
        </p:txBody>
      </p:sp>
      <p:sp>
        <p:nvSpPr>
          <p:cNvPr id="24" name="Chevron 23"/>
          <p:cNvSpPr/>
          <p:nvPr/>
        </p:nvSpPr>
        <p:spPr>
          <a:xfrm>
            <a:off x="2240279" y="5120640"/>
            <a:ext cx="182880" cy="201168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386584" y="4800600"/>
            <a:ext cx="1755648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E6E69"/>
                </a:solidFill>
                <a:latin typeface="Noto Sans CJK KR"/>
                <a:ea typeface="Noto Sans CJK KR"/>
              </a:rPr>
              <a:t>② AI 분류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중요도·카테고리
자동 태깅</a:t>
            </a:r>
          </a:p>
        </p:txBody>
      </p:sp>
      <p:sp>
        <p:nvSpPr>
          <p:cNvPr id="26" name="Chevron 25"/>
          <p:cNvSpPr/>
          <p:nvPr/>
        </p:nvSpPr>
        <p:spPr>
          <a:xfrm>
            <a:off x="4123944" y="5120640"/>
            <a:ext cx="182880" cy="201168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70248" y="4800600"/>
            <a:ext cx="1755648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E6E69"/>
                </a:solidFill>
                <a:latin typeface="Noto Sans CJK KR"/>
                <a:ea typeface="Noto Sans CJK KR"/>
              </a:rPr>
              <a:t>③ AI 요약·번역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용어·차별점
초안 자동생성</a:t>
            </a:r>
          </a:p>
        </p:txBody>
      </p:sp>
      <p:sp>
        <p:nvSpPr>
          <p:cNvPr id="28" name="Chevron 27"/>
          <p:cNvSpPr/>
          <p:nvPr/>
        </p:nvSpPr>
        <p:spPr>
          <a:xfrm>
            <a:off x="6007608" y="5120640"/>
            <a:ext cx="182880" cy="201168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53912" y="4800600"/>
            <a:ext cx="1755648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2E6E69"/>
                </a:solidFill>
                <a:latin typeface="Noto Sans CJK KR"/>
                <a:ea typeface="Noto Sans CJK KR"/>
              </a:rPr>
              <a:t>④ AI 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표·수치
자동 보완</a:t>
            </a:r>
          </a:p>
        </p:txBody>
      </p:sp>
      <p:sp>
        <p:nvSpPr>
          <p:cNvPr id="30" name="Chevron 29"/>
          <p:cNvSpPr/>
          <p:nvPr/>
        </p:nvSpPr>
        <p:spPr>
          <a:xfrm>
            <a:off x="7891271" y="5120640"/>
            <a:ext cx="182880" cy="201168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37576" y="4800600"/>
            <a:ext cx="1755648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8A5A1E"/>
                </a:solidFill>
                <a:latin typeface="Noto Sans CJK KR"/>
                <a:ea typeface="Noto Sans CJK KR"/>
              </a:rPr>
              <a:t>⑤ 인사이트 검증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★ 사람: 암묵지
큐레이션·검증</a:t>
            </a:r>
          </a:p>
        </p:txBody>
      </p:sp>
      <p:sp>
        <p:nvSpPr>
          <p:cNvPr id="32" name="Chevron 31"/>
          <p:cNvSpPr/>
          <p:nvPr/>
        </p:nvSpPr>
        <p:spPr>
          <a:xfrm>
            <a:off x="9774936" y="5120640"/>
            <a:ext cx="182880" cy="201168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21240" y="4800600"/>
            <a:ext cx="1755648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8A5A1E"/>
                </a:solidFill>
                <a:latin typeface="Noto Sans CJK KR"/>
                <a:ea typeface="Noto Sans CJK KR"/>
              </a:rPr>
              <a:t>⑥ 리포트 완성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사람
최종 판단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751576"/>
            <a:ext cx="7406640" cy="47548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22282E"/>
                </a:solidFill>
                <a:latin typeface="Noto Sans CJK KR"/>
                <a:ea typeface="Noto Sans CJK KR"/>
              </a:rPr>
              <a:t>개선  ①~④ AI 처리로 수집·요약 반복노동 제거 → 담당자 시간 확보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7576" y="5751576"/>
            <a:ext cx="3639312" cy="47548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8A5A1E"/>
                </a:solidFill>
                <a:latin typeface="Noto Sans CJK KR"/>
                <a:ea typeface="Noto Sans CJK KR"/>
              </a:rPr>
              <a:t>암묵지를 규칙·프롬프트로 형식지화 → 품질 표준화·속인화 해소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361688"/>
            <a:ext cx="201168" cy="20116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2E6E69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232" y="4379975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AI 자동화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636007"/>
            <a:ext cx="201168" cy="20116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0232" y="465429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사람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22282E"/>
                </a:solidFill>
                <a:latin typeface="Noto Sans CJK KR"/>
                <a:ea typeface="Noto Sans CJK KR"/>
              </a:rPr>
              <a:t>To-Be 실행 설계 : AI 구현 · 사람 역할 · 추진계획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단계별 AI 기술을 하이브리드로 적용하고, 핵심 과제인 '암묵지의 형식지화'는 사람이 담당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1556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325880"/>
            <a:ext cx="2834640" cy="31089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① 단계별 AI 구현 (하이브리드)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46504"/>
            <a:ext cx="5623560" cy="397764"/>
          </a:xfrm>
          <a:prstGeom prst="rect">
            <a:avLst/>
          </a:prstGeom>
          <a:solidFill>
            <a:srgbClr val="22282E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46504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공정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46504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적용 AI 기술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46504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도입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4268"/>
            <a:ext cx="5623560" cy="397764"/>
          </a:xfrm>
          <a:prstGeom prst="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44268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144268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웹크롤링·RSS·검색 API 자동화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144268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E6E69"/>
                </a:solidFill>
                <a:latin typeface="Noto Sans CJK KR"/>
                <a:ea typeface="Noto Sans CJK KR"/>
              </a:rPr>
              <a:t>1단계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42032"/>
            <a:ext cx="5623560" cy="3977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542032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분류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542032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LLM 중요도·카테고리 태깅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542032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E6E69"/>
                </a:solidFill>
                <a:latin typeface="Noto Sans CJK KR"/>
                <a:ea typeface="Noto Sans CJK KR"/>
              </a:rPr>
              <a:t>1~2단계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39796"/>
            <a:ext cx="5623560" cy="397764"/>
          </a:xfrm>
          <a:prstGeom prst="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939796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요약·번역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939796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LLM 요약·번역·용어/차별점 설명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939796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E6E69"/>
                </a:solidFill>
                <a:latin typeface="Noto Sans CJK KR"/>
                <a:ea typeface="Noto Sans CJK KR"/>
              </a:rPr>
              <a:t>1단계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37560"/>
            <a:ext cx="5623560" cy="3977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시각화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337560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LLM 기반 표·차트 초안 생성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337560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E6E69"/>
                </a:solidFill>
                <a:latin typeface="Noto Sans CJK KR"/>
                <a:ea typeface="Noto Sans CJK KR"/>
              </a:rPr>
              <a:t>2단계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5324"/>
            <a:ext cx="5623560" cy="397764"/>
          </a:xfrm>
          <a:prstGeom prst="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735324"/>
            <a:ext cx="100584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인사이트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735324"/>
            <a:ext cx="342900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RAG(과거리포트)+암묵지 룰 프롬프트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735324"/>
            <a:ext cx="822960" cy="3977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E6E69"/>
                </a:solidFill>
                <a:latin typeface="Noto Sans CJK KR"/>
                <a:ea typeface="Noto Sans CJK KR"/>
              </a:rPr>
              <a:t>2단계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4224527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2E6E69"/>
                </a:solidFill>
                <a:latin typeface="Noto Sans CJK KR"/>
                <a:ea typeface="Noto Sans CJK KR"/>
              </a:rPr>
              <a:t>1단계 (Quick win) : Cowork/Claude 스킬·스케줄로 즉시 자동화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8A939B"/>
                </a:solidFill>
                <a:latin typeface="Noto Sans CJK KR"/>
                <a:ea typeface="Noto Sans CJK KR"/>
              </a:rPr>
              <a:t>2단계 : 검증 후 자체 파이프라인으로 시스템화 (중장기)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1325880"/>
            <a:ext cx="3383280" cy="31089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② 사람의 역할 ─ 암묵지 정리가 핵심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1746504"/>
            <a:ext cx="5239512" cy="239572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4" name="Oval 33"/>
          <p:cNvSpPr/>
          <p:nvPr/>
        </p:nvSpPr>
        <p:spPr>
          <a:xfrm>
            <a:off x="6647688" y="1938527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0024" y="1892807"/>
            <a:ext cx="4462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선정 우선순위 기준 명문화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0">
                <a:solidFill>
                  <a:srgbClr val="4B555E"/>
                </a:solidFill>
                <a:latin typeface="Noto Sans CJK KR"/>
                <a:ea typeface="Noto Sans CJK KR"/>
              </a:rPr>
              <a:t>경쟁사 순위·신기술 판단기준을 규칙으로 정의</a:t>
            </a:r>
          </a:p>
        </p:txBody>
      </p:sp>
      <p:sp>
        <p:nvSpPr>
          <p:cNvPr id="36" name="Oval 35"/>
          <p:cNvSpPr/>
          <p:nvPr/>
        </p:nvSpPr>
        <p:spPr>
          <a:xfrm>
            <a:off x="6647688" y="2487168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2441448"/>
            <a:ext cx="4462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인사이트 도출 로직 형식지화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0">
                <a:solidFill>
                  <a:srgbClr val="4B555E"/>
                </a:solidFill>
                <a:latin typeface="Noto Sans CJK KR"/>
                <a:ea typeface="Noto Sans CJK KR"/>
              </a:rPr>
              <a:t>'당사 인사이트' 도출 사고를 체크리스트·프롬프트化</a:t>
            </a:r>
          </a:p>
        </p:txBody>
      </p:sp>
      <p:sp>
        <p:nvSpPr>
          <p:cNvPr id="38" name="Oval 37"/>
          <p:cNvSpPr/>
          <p:nvPr/>
        </p:nvSpPr>
        <p:spPr>
          <a:xfrm>
            <a:off x="6647688" y="3035807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50024" y="2990087"/>
            <a:ext cx="4462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AI 초안 검증 및 최종 판단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0">
                <a:solidFill>
                  <a:srgbClr val="4B555E"/>
                </a:solidFill>
                <a:latin typeface="Noto Sans CJK KR"/>
                <a:ea typeface="Noto Sans CJK KR"/>
              </a:rPr>
              <a:t>사실관계·논조·맥락 검수, 발송 전 최종 책임</a:t>
            </a:r>
          </a:p>
        </p:txBody>
      </p:sp>
      <p:sp>
        <p:nvSpPr>
          <p:cNvPr id="40" name="Oval 39"/>
          <p:cNvSpPr/>
          <p:nvPr/>
        </p:nvSpPr>
        <p:spPr>
          <a:xfrm>
            <a:off x="6647688" y="3584447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0024" y="3538727"/>
            <a:ext cx="4462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피드백 루프 운영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0">
                <a:solidFill>
                  <a:srgbClr val="4B555E"/>
                </a:solidFill>
                <a:latin typeface="Noto Sans CJK KR"/>
                <a:ea typeface="Noto Sans CJK KR"/>
              </a:rPr>
              <a:t>결과 기반 프롬프트·룰 지속 고도화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90288"/>
            <a:ext cx="2560320" cy="31089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③ 추진계획 (8월 → 10월)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91840" y="4745736"/>
            <a:ext cx="8275320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85800" y="5065775"/>
            <a:ext cx="3520440" cy="40233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KR"/>
                <a:ea typeface="Noto Sans CJK KR"/>
              </a:rPr>
              <a:t>8월   기반 구축 · Quick win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암묵지 형식지화: 선정기준·검색어·소스 정리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수집 자동화 PoC (Cowork 스킬·스케줄)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요약·번역 초안 자동화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07408" y="5065775"/>
            <a:ext cx="3520440" cy="40233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KR"/>
                <a:ea typeface="Noto Sans CJK KR"/>
              </a:rPr>
              <a:t>9월   파이프라인 · 시범운영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07408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35424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AI 분류·시각화 초안 파이프라인 구축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인사이트 프롬프트 v1 + RAG 연결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기존 방식과 병행 시범운영·검증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29016" y="5065775"/>
            <a:ext cx="3520440" cy="40233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KR"/>
                <a:ea typeface="Noto Sans CJK KR"/>
              </a:rPr>
              <a:t>10월   고도화 · 정식 전환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29016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7032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품질 검증 및 프롬프트 고도화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표준 프로세스 확정·정식 전환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1000" b="0">
                <a:solidFill>
                  <a:srgbClr val="4B555E"/>
                </a:solidFill>
                <a:latin typeface="Noto Sans CJK KR"/>
                <a:ea typeface="Noto Sans CJK KR"/>
              </a:rPr>
              <a:t>•  중장기 자체 시스템화 로드맵 수립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