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22282E"/>
                </a:solidFill>
                <a:latin typeface="Noto Sans CJK KR"/>
                <a:ea typeface="Noto Sans CJK KR"/>
              </a:rPr>
              <a:t>마켓센싱 리포트 AI 전환 : As-Is → To-Be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8A939B"/>
                </a:solidFill>
                <a:latin typeface="Noto Sans CJK KR"/>
                <a:ea typeface="Noto Sans CJK KR"/>
              </a:rPr>
              <a:t>정형·반복 업무는 '대체', 암묵지 기반 판단은 '증폭' — MAGI 5계층 인텔리전스 구조로 재설계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bentConnector3">
            <a:avLst/>
          </a:prstGeom>
          <a:ln w="15240">
            <a:solidFill>
              <a:srgbClr val="D5D9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2920" y="1325880"/>
            <a:ext cx="1234440" cy="292608"/>
          </a:xfrm>
          <a:prstGeom prst="roundRect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AS-IS  현행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353312"/>
            <a:ext cx="8961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4B555E"/>
                </a:solidFill>
                <a:latin typeface="Noto Sans CJK KR"/>
                <a:ea typeface="Noto Sans CJK KR"/>
              </a:rPr>
              <a:t>수집·정리·정형화·분석을 사람이 수작업 반복 · 인사이트가 베테랑 개인에 의존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46504"/>
            <a:ext cx="1755648" cy="786384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① 정보수집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4개 소스 수동 취합
(스크랩·메일링·보고서·검색)</a:t>
            </a:r>
          </a:p>
        </p:txBody>
      </p:sp>
      <p:sp>
        <p:nvSpPr>
          <p:cNvPr id="9" name="Chevron 8"/>
          <p:cNvSpPr/>
          <p:nvPr/>
        </p:nvSpPr>
        <p:spPr>
          <a:xfrm>
            <a:off x="2240279" y="2048255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86584" y="1746504"/>
            <a:ext cx="1755648" cy="786384"/>
          </a:xfrm>
          <a:prstGeom prst="roundRect">
            <a:avLst/>
          </a:prstGeom>
          <a:solidFill>
            <a:srgbClr val="F7EAE3"/>
          </a:solidFill>
          <a:ln w="1270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7A381C"/>
                </a:solidFill>
                <a:latin typeface="Noto Sans CJK KR"/>
                <a:ea typeface="Noto Sans CJK KR"/>
              </a:rPr>
              <a:t>★ ② 주제 선정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선택 우선순위 판단
(무엇을·왜 뽑나)</a:t>
            </a:r>
          </a:p>
        </p:txBody>
      </p:sp>
      <p:sp>
        <p:nvSpPr>
          <p:cNvPr id="11" name="Chevron 10"/>
          <p:cNvSpPr/>
          <p:nvPr/>
        </p:nvSpPr>
        <p:spPr>
          <a:xfrm>
            <a:off x="4123944" y="2048255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70248" y="1746504"/>
            <a:ext cx="1755648" cy="786384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③ 정리·정형화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기사별 요약·번역·
용어 수작업</a:t>
            </a:r>
          </a:p>
        </p:txBody>
      </p:sp>
      <p:sp>
        <p:nvSpPr>
          <p:cNvPr id="13" name="Chevron 12"/>
          <p:cNvSpPr/>
          <p:nvPr/>
        </p:nvSpPr>
        <p:spPr>
          <a:xfrm>
            <a:off x="6007608" y="2048255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53912" y="1746504"/>
            <a:ext cx="1755648" cy="786384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④ 통계·시각화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수치 보완·
표/이미지 제작</a:t>
            </a:r>
          </a:p>
        </p:txBody>
      </p:sp>
      <p:sp>
        <p:nvSpPr>
          <p:cNvPr id="15" name="Chevron 14"/>
          <p:cNvSpPr/>
          <p:nvPr/>
        </p:nvSpPr>
        <p:spPr>
          <a:xfrm>
            <a:off x="7891271" y="2048255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37576" y="1746504"/>
            <a:ext cx="1755648" cy="786384"/>
          </a:xfrm>
          <a:prstGeom prst="roundRect">
            <a:avLst/>
          </a:prstGeom>
          <a:solidFill>
            <a:srgbClr val="F7EAE3"/>
          </a:solidFill>
          <a:ln w="1270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7A381C"/>
                </a:solidFill>
                <a:latin typeface="Noto Sans CJK KR"/>
                <a:ea typeface="Noto Sans CJK KR"/>
              </a:rPr>
              <a:t>★ ⑤ 인사이트 도출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베테랑 암묵지
개인 의존</a:t>
            </a:r>
          </a:p>
        </p:txBody>
      </p:sp>
      <p:sp>
        <p:nvSpPr>
          <p:cNvPr id="17" name="Chevron 16"/>
          <p:cNvSpPr/>
          <p:nvPr/>
        </p:nvSpPr>
        <p:spPr>
          <a:xfrm>
            <a:off x="9774936" y="2048255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921240" y="1746504"/>
            <a:ext cx="1755648" cy="786384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⑥ 리포트 작성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취합·편집·
발송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642616"/>
            <a:ext cx="5522975" cy="512064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4B555E"/>
                </a:solidFill>
                <a:latin typeface="Noto Sans CJK KR"/>
                <a:ea typeface="Noto Sans CJK KR"/>
              </a:rPr>
              <a:t>▲ 시간 병목 · 반복업무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①·③·④ 수집·정리·시각화 반복작업에 분석가 시간이 과다 소모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3911" y="2642616"/>
            <a:ext cx="5522975" cy="512064"/>
          </a:xfrm>
          <a:prstGeom prst="roundRect">
            <a:avLst/>
          </a:prstGeom>
          <a:solidFill>
            <a:srgbClr val="F7EAE3"/>
          </a:solidFill>
          <a:ln w="1270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B4532A"/>
                </a:solidFill>
                <a:latin typeface="Noto Sans CJK KR"/>
                <a:ea typeface="Noto Sans CJK KR"/>
              </a:rPr>
              <a:t>★ 암묵지·품질 병목 · 속인화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7A381C"/>
                </a:solidFill>
                <a:latin typeface="Noto Sans CJK KR"/>
                <a:ea typeface="Noto Sans CJK KR"/>
              </a:rPr>
              <a:t>② 주제 선정 = '선택 우선순위'(왜 뽑나 = 인사이트) · ⑤ 인사이트 도출 → 편차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82112"/>
            <a:ext cx="6400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4B555E"/>
                </a:solidFill>
                <a:latin typeface="Noto Sans CJK KR"/>
                <a:ea typeface="Noto Sans CJK KR"/>
              </a:rPr>
              <a:t>① 정보수집 — 4개 소스 (수동 취합)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401568"/>
            <a:ext cx="2665476" cy="402336"/>
          </a:xfrm>
          <a:prstGeom prst="roundRect">
            <a:avLst/>
          </a:prstGeom>
          <a:solidFill>
            <a:srgbClr val="ECEEF0"/>
          </a:solidFill>
          <a:ln w="9525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22282E"/>
                </a:solidFill>
                <a:latin typeface="Noto Sans CJK KR"/>
                <a:ea typeface="Noto Sans CJK KR"/>
              </a:rPr>
              <a:t>❶ 커뮤니케이션팀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신문스크랩 기사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2988" y="3401568"/>
            <a:ext cx="2665476" cy="402336"/>
          </a:xfrm>
          <a:prstGeom prst="roundRect">
            <a:avLst/>
          </a:prstGeom>
          <a:solidFill>
            <a:srgbClr val="ECEEF0"/>
          </a:solidFill>
          <a:ln w="9525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22282E"/>
                </a:solidFill>
                <a:latin typeface="Noto Sans CJK KR"/>
                <a:ea typeface="Noto Sans CJK KR"/>
              </a:rPr>
              <a:t>❷ 사업부메일링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'오늘의 시장동향'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63056" y="3401568"/>
            <a:ext cx="2665476" cy="402336"/>
          </a:xfrm>
          <a:prstGeom prst="roundRect">
            <a:avLst/>
          </a:prstGeom>
          <a:solidFill>
            <a:srgbClr val="ECEEF0"/>
          </a:solidFill>
          <a:ln w="9525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22282E"/>
                </a:solidFill>
                <a:latin typeface="Noto Sans CJK KR"/>
                <a:ea typeface="Noto Sans CJK KR"/>
              </a:rPr>
              <a:t>❸ 정기보고서·전시회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IMF·한국은행·KISIA / CES·MWC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3124" y="3401568"/>
            <a:ext cx="2665476" cy="402336"/>
          </a:xfrm>
          <a:prstGeom prst="roundRect">
            <a:avLst/>
          </a:prstGeom>
          <a:solidFill>
            <a:srgbClr val="ECEEF0"/>
          </a:solidFill>
          <a:ln w="9525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22282E"/>
                </a:solidFill>
                <a:latin typeface="Noto Sans CJK KR"/>
                <a:ea typeface="Noto Sans CJK KR"/>
              </a:rPr>
              <a:t>❹ 검색어 기반 검색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경쟁사·글로벌·업계 (중요도순)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858768"/>
            <a:ext cx="2148840" cy="365760"/>
          </a:xfrm>
          <a:prstGeom prst="roundRect">
            <a:avLst/>
          </a:prstGeom>
          <a:solidFill>
            <a:srgbClr val="F7EAE3"/>
          </a:solidFill>
          <a:ln w="9525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30" b="1">
                <a:solidFill>
                  <a:srgbClr val="7A381C"/>
                </a:solidFill>
                <a:latin typeface="Noto Sans CJK KR"/>
                <a:ea typeface="Noto Sans CJK KR"/>
              </a:rPr>
              <a:t>★ ② 선택 우선순위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19" b="0">
                <a:solidFill>
                  <a:srgbClr val="7A381C"/>
                </a:solidFill>
                <a:latin typeface="Noto Sans CJK KR"/>
                <a:ea typeface="Noto Sans CJK KR"/>
              </a:rPr>
              <a:t>암묵지 = 왜 뽑나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61488" y="3858768"/>
            <a:ext cx="8924544" cy="365760"/>
          </a:xfrm>
          <a:prstGeom prst="roundRect">
            <a:avLst/>
          </a:prstGeom>
          <a:solidFill>
            <a:srgbClr val="FCF8F5"/>
          </a:solidFill>
          <a:ln w="9525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30" b="0">
                <a:solidFill>
                  <a:srgbClr val="22282E"/>
                </a:solidFill>
                <a:latin typeface="Noto Sans CJK KR"/>
                <a:ea typeface="Noto Sans CJK KR"/>
              </a:rPr>
              <a:t>당사 연관성 높은 경쟁사 우선  ▸  향후 도입 가능 신기술·신서비스  ▸  영업확대 기회 정책·시장·사회이슈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43400"/>
            <a:ext cx="1234440" cy="29260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TO-BE  개선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4370832"/>
            <a:ext cx="9418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2E6E69"/>
                </a:solidFill>
                <a:latin typeface="Noto Sans CJK KR"/>
                <a:ea typeface="Noto Sans CJK KR"/>
              </a:rPr>
              <a:t>L1 수집은 자동화로 '대체', L2~L4 암묵지·4관점 판단은 '증폭' — 최종 판단·책임은 인간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496" y="4892040"/>
            <a:ext cx="1005840" cy="182880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대체 · 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93208"/>
            <a:ext cx="2084831" cy="841248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E6E69"/>
                </a:solidFill>
                <a:latin typeface="Noto Sans CJK KR"/>
                <a:ea typeface="Noto Sans CJK KR"/>
              </a:rPr>
              <a:t>L1  수집 계층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뉴스·공시·규제·경쟁사
크롤링·중복제거·1차 스코어링</a:t>
            </a:r>
          </a:p>
        </p:txBody>
      </p:sp>
      <p:sp>
        <p:nvSpPr>
          <p:cNvPr id="32" name="Chevron 31"/>
          <p:cNvSpPr/>
          <p:nvPr/>
        </p:nvSpPr>
        <p:spPr>
          <a:xfrm>
            <a:off x="2578608" y="5422392"/>
            <a:ext cx="228600" cy="182880"/>
          </a:xfrm>
          <a:prstGeom prst="chevron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807208" y="4892040"/>
            <a:ext cx="1005840" cy="182880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증폭 · moat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70632" y="5093208"/>
            <a:ext cx="2084831" cy="841248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8A5A1E"/>
                </a:solidFill>
                <a:latin typeface="Noto Sans CJK KR"/>
                <a:ea typeface="Noto Sans CJK KR"/>
              </a:rPr>
              <a:t>L2  지식 계층 ★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베테랑 암묵지 KB (moat)
수주/실주·근거 코퍼스·RAG</a:t>
            </a:r>
          </a:p>
        </p:txBody>
      </p:sp>
      <p:sp>
        <p:nvSpPr>
          <p:cNvPr id="35" name="Chevron 34"/>
          <p:cNvSpPr/>
          <p:nvPr/>
        </p:nvSpPr>
        <p:spPr>
          <a:xfrm>
            <a:off x="4846320" y="5422392"/>
            <a:ext cx="228600" cy="182880"/>
          </a:xfrm>
          <a:prstGeom prst="chevron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74920" y="4892040"/>
            <a:ext cx="1005840" cy="182880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증폭 · MAGI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8344" y="5093208"/>
            <a:ext cx="2084831" cy="841248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E6E69"/>
                </a:solidFill>
                <a:latin typeface="Noto Sans CJK KR"/>
                <a:ea typeface="Noto Sans CJK KR"/>
              </a:rPr>
              <a:t>L3  에이전트 계층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기획·영업·기술위협·경쟁사
4관점 MAGI · 관점충돌=신호</a:t>
            </a:r>
          </a:p>
        </p:txBody>
      </p:sp>
      <p:sp>
        <p:nvSpPr>
          <p:cNvPr id="38" name="Chevron 37"/>
          <p:cNvSpPr/>
          <p:nvPr/>
        </p:nvSpPr>
        <p:spPr>
          <a:xfrm>
            <a:off x="7114031" y="5422392"/>
            <a:ext cx="228600" cy="182880"/>
          </a:xfrm>
          <a:prstGeom prst="chevron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4892040"/>
            <a:ext cx="1005840" cy="182880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증폭 · 인간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06055" y="5093208"/>
            <a:ext cx="2084831" cy="841248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8A5A1E"/>
                </a:solidFill>
                <a:latin typeface="Noto Sans CJK KR"/>
                <a:ea typeface="Noto Sans CJK KR"/>
              </a:rPr>
              <a:t>L4  종합·판단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휴먼인더루프
채택/기각·good/bad 라벨</a:t>
            </a:r>
          </a:p>
        </p:txBody>
      </p:sp>
      <p:sp>
        <p:nvSpPr>
          <p:cNvPr id="41" name="Chevron 40"/>
          <p:cNvSpPr/>
          <p:nvPr/>
        </p:nvSpPr>
        <p:spPr>
          <a:xfrm>
            <a:off x="9381744" y="5422392"/>
            <a:ext cx="228600" cy="182880"/>
          </a:xfrm>
          <a:prstGeom prst="chevron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610344" y="4892040"/>
            <a:ext cx="1005840" cy="182880"/>
          </a:xfrm>
          <a:prstGeom prst="roundRect">
            <a:avLst/>
          </a:prstGeom>
          <a:solidFill>
            <a:srgbClr val="8A9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학습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73768" y="5093208"/>
            <a:ext cx="2084831" cy="841248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8A93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B555E"/>
                </a:solidFill>
                <a:latin typeface="Noto Sans CJK KR"/>
                <a:ea typeface="Noto Sans CJK KR"/>
              </a:rPr>
              <a:t>L5  학습 계층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사례 축적·루브릭/프롬프트
개선 (피드백 루프)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6044184"/>
            <a:ext cx="11155680" cy="310896"/>
          </a:xfrm>
          <a:prstGeom prst="roundRect">
            <a:avLst/>
          </a:prstGeom>
          <a:solidFill>
            <a:srgbClr val="FBFBFC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↺  피드백 루프 : L5 good/bad 라벨·사례가 few-shot·검색 컨텍스트로 L2·L3에 재투입 → 관점별 인사이트 품질 개선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881360" y="4361688"/>
            <a:ext cx="182880" cy="182880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2E6E69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19104" y="4370831"/>
            <a:ext cx="1188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대체(AI)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881360" y="4608575"/>
            <a:ext cx="182880" cy="182880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8A5A1E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19104" y="4617720"/>
            <a:ext cx="1188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증폭(사람)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22282E"/>
                </a:solidFill>
                <a:latin typeface="Noto Sans CJK KR"/>
                <a:ea typeface="Noto Sans CJK KR"/>
              </a:rPr>
              <a:t>To-Be 실행 설계 : MAGI 4관점 에이전트 · 암묵지 코드화 · 추진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8A939B"/>
                </a:solidFill>
                <a:latin typeface="Noto Sans CJK KR"/>
                <a:ea typeface="Noto Sans CJK KR"/>
              </a:rPr>
              <a:t>차별화는 '증폭'과 '암묵지 코드화'에서 나온다 — 크롤러에 3을 쓰면 지식 캡처에 7을 쓰는 비대칭 투자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69848"/>
            <a:ext cx="11183112" cy="0"/>
          </a:xfrm>
          <a:prstGeom prst="bentConnector3">
            <a:avLst/>
          </a:prstGeom>
          <a:ln w="15240">
            <a:solidFill>
              <a:srgbClr val="D5D9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2920" y="1280160"/>
            <a:ext cx="3200400" cy="301752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① MAGI 4관점 에이전트 (L3 코어)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64207"/>
            <a:ext cx="1051560" cy="49834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CJK KR"/>
                <a:ea typeface="Noto Sans CJK KR"/>
              </a:rPr>
              <a:t>기획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18488" y="1664207"/>
            <a:ext cx="4507992" cy="498348"/>
          </a:xfrm>
          <a:prstGeom prst="round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22282E"/>
                </a:solidFill>
                <a:latin typeface="Noto Sans CJK KR"/>
                <a:ea typeface="Noto Sans CJK KR"/>
              </a:rPr>
              <a:t>제품·시장전략·중장기 트렌드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E6E69"/>
                </a:solidFill>
                <a:latin typeface="Noto Sans CJK KR"/>
                <a:ea typeface="Noto Sans CJK KR"/>
              </a:rPr>
              <a:t>Q. 우리 제품/로드맵에 주는 의미는?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08276"/>
            <a:ext cx="1051560" cy="49834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CJK KR"/>
                <a:ea typeface="Noto Sans CJK KR"/>
              </a:rPr>
              <a:t>영업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2208276"/>
            <a:ext cx="4507992" cy="498348"/>
          </a:xfrm>
          <a:prstGeom prst="round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22282E"/>
                </a:solidFill>
                <a:latin typeface="Noto Sans CJK KR"/>
                <a:ea typeface="Noto Sans CJK KR"/>
              </a:rPr>
              <a:t>수주 기회·위협·고객 파이프라인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E6E69"/>
                </a:solidFill>
                <a:latin typeface="Noto Sans CJK KR"/>
                <a:ea typeface="Noto Sans CJK KR"/>
              </a:rPr>
              <a:t>Q. 딜과 고객관계에 주는 의미는?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752344"/>
            <a:ext cx="1051560" cy="49834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CJK KR"/>
                <a:ea typeface="Noto Sans CJK KR"/>
              </a:rPr>
              <a:t>기술·위협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18488" y="2752344"/>
            <a:ext cx="4507992" cy="498348"/>
          </a:xfrm>
          <a:prstGeom prst="round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22282E"/>
                </a:solidFill>
                <a:latin typeface="Noto Sans CJK KR"/>
                <a:ea typeface="Noto Sans CJK KR"/>
              </a:rPr>
              <a:t>보안위협·신기술·규제 파급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E6E69"/>
                </a:solidFill>
                <a:latin typeface="Noto Sans CJK KR"/>
                <a:ea typeface="Noto Sans CJK KR"/>
              </a:rPr>
              <a:t>Q. 위협지형·기술경쟁력에 주는 의미는?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6412"/>
            <a:ext cx="1051560" cy="49834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CJK KR"/>
                <a:ea typeface="Noto Sans CJK KR"/>
              </a:rPr>
              <a:t>경쟁사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18488" y="3296412"/>
            <a:ext cx="4507992" cy="498348"/>
          </a:xfrm>
          <a:prstGeom prst="round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22282E"/>
                </a:solidFill>
                <a:latin typeface="Noto Sans CJK KR"/>
                <a:ea typeface="Noto Sans CJK KR"/>
              </a:rPr>
              <a:t>경쟁 3사 입장에서 동향 시뮬레이션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E6E69"/>
                </a:solidFill>
                <a:latin typeface="Noto Sans CJK KR"/>
                <a:ea typeface="Noto Sans CJK KR"/>
              </a:rPr>
              <a:t>Q. 경쟁사라면 어떻게 움직일까?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623560" cy="603504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30" b="1">
                <a:solidFill>
                  <a:srgbClr val="2E6E69"/>
                </a:solidFill>
                <a:latin typeface="Noto Sans CJK KR"/>
                <a:ea typeface="Noto Sans CJK KR"/>
              </a:rPr>
              <a:t>동일 입력을 각자 스탠스로 해석 → 관점 충돌 = 인간에 우선 노출되는 '주목 신호'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(MAGI 교착 = 의사결정 트리거) · 최종 판단·편집·책임은 인간(휴먼인더루프)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1280160"/>
            <a:ext cx="4023360" cy="301752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② 암묵지 코드화 (moat) — 사람의 핵심 역할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1664207"/>
            <a:ext cx="5239512" cy="2615184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8A5A1E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18" name="Oval 17"/>
          <p:cNvSpPr/>
          <p:nvPr/>
        </p:nvSpPr>
        <p:spPr>
          <a:xfrm>
            <a:off x="6647688" y="1865376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0024" y="1810512"/>
            <a:ext cx="44622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결론(what) 아닌 근거(why)를 코드화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전이되는 건 결론이 아니라 근거 — 항상 '왜'를 잡는다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6647688" y="2455164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0024" y="2400300"/>
            <a:ext cx="44622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근거 우선(Evidence-First) 스키마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트리거→판단→★근거·추론→반대고려→경계조건→검증→라벨</a:t>
            </a:r>
          </a:p>
        </p:txBody>
      </p:sp>
      <p:sp>
        <p:nvSpPr>
          <p:cNvPr id="22" name="Oval 21"/>
          <p:cNvSpPr/>
          <p:nvPr/>
        </p:nvSpPr>
        <p:spPr>
          <a:xfrm>
            <a:off x="6647688" y="3044952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0024" y="2990088"/>
            <a:ext cx="44622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구체 사례 인터뷰로 추출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'왜' 3회 되묻기 · 시드 20~30건 + 인워크플로 라벨 누적</a:t>
            </a:r>
          </a:p>
        </p:txBody>
      </p:sp>
      <p:sp>
        <p:nvSpPr>
          <p:cNvPr id="24" name="Oval 23"/>
          <p:cNvSpPr/>
          <p:nvPr/>
        </p:nvSpPr>
        <p:spPr>
          <a:xfrm>
            <a:off x="6647688" y="3634740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0024" y="3579876"/>
            <a:ext cx="44622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good/bad 라벨 = 학습 데이터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라벨·근거가 few-shot·검색 컨텍스트로 L5 루프에 직접 투입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590288"/>
            <a:ext cx="4114800" cy="301752"/>
          </a:xfrm>
          <a:prstGeom prst="roundRect">
            <a:avLst/>
          </a:prstGeom>
          <a:solidFill>
            <a:srgbClr val="22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CJK KR"/>
                <a:ea typeface="Noto Sans CJK KR"/>
              </a:rPr>
              <a:t>③ 추진 로드맵 — 10월 파일럿 완료 목표 (Phase 0→3 압축)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846320" y="4736592"/>
            <a:ext cx="6720839" cy="0"/>
          </a:xfrm>
          <a:prstGeom prst="bentConnector3">
            <a:avLst/>
          </a:prstGeom>
          <a:ln w="15240">
            <a:solidFill>
              <a:srgbClr val="D5D9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5065775"/>
            <a:ext cx="3520440" cy="402336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8월   Phase 0~1  정렬·시드·수집 PoC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504688"/>
            <a:ext cx="3520440" cy="1225296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4B555E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" y="5596127"/>
            <a:ext cx="3264408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범위·스코어링 기준·에이전트 스탠스 정의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베테랑 워크숍 → 핵심사례 20~30건 시드 KB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L1 수집 자동화 파이프라인 PoC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07408" y="5065775"/>
            <a:ext cx="3520440" cy="402336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9월   Phase 2  에이전트 PoC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07408" y="5504688"/>
            <a:ext cx="3520440" cy="1225296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4B555E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5424" y="5596127"/>
            <a:ext cx="3264408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4관점 에이전트 프로토타입 구축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과거 리포트로 백테스트·튜닝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관점 충돌 신호·확신도 뷰 설계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29016" y="5065775"/>
            <a:ext cx="3520440" cy="402336"/>
          </a:xfrm>
          <a:prstGeom prst="roundRect">
            <a:avLst/>
          </a:prstGeom>
          <a:solidFill>
            <a:srgbClr val="22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10월   Phase 3  휴먼인더루프 파일럿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9016" y="5504688"/>
            <a:ext cx="3520440" cy="1225296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4B555E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596127"/>
            <a:ext cx="3264408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1~2회 실제 발행 사이클 병행 적용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라벨링 운영 → 라벨 데이터셋 확보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8A939B"/>
                </a:solidFill>
                <a:latin typeface="Noto Sans CJK KR"/>
                <a:ea typeface="Noto Sans CJK KR"/>
              </a:rPr>
              <a:t>•  ※ 이후 Phase 4 정식운영·개선 확장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