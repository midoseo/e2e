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마켓센싱 리포트 제작 프로세스를 As-Is(현행)와 To-Be(개선)로 비교. 현행은 6단계 수작업 흐름과 2가지 병목(시간/암묵지), 개선안은 5계층 구조로 재설계.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다관점 AI 에이전트 4개 관점, 암묵지 코드화 4단계, 3개월 추진 계획을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860804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마켓센싱 리포트 AI 전환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85800" y="1243013"/>
            <a:ext cx="16916400" cy="704850"/>
          </a:xfrm>
          <a:prstGeom prst="roundRect">
            <a:avLst>
              <a:gd name="adj" fmla="val 21622"/>
            </a:avLst>
          </a:prstGeom>
          <a:gradFill rotWithShape="1">
            <a:gsLst>
              <a:gs pos="0">
                <a:srgbClr val="0B1F63">
                  <a:alpha val="100000"/>
                </a:srgbClr>
              </a:gs>
              <a:gs pos="60000">
                <a:srgbClr val="1428A0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95250" dir="5400000">
              <a:srgbClr val="1428A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52500" y="1433513"/>
            <a:ext cx="66675" cy="323850"/>
          </a:xfrm>
          <a:prstGeom prst="roundRect">
            <a:avLst>
              <a:gd name="adj" fmla="val 50000"/>
            </a:avLst>
          </a:prstGeom>
          <a:solidFill>
            <a:srgbClr val="8FD3FF"/>
          </a:solidFill>
          <a:ln/>
        </p:spPr>
      </p:sp>
      <p:sp>
        <p:nvSpPr>
          <p:cNvPr id="5" name="Text 3"/>
          <p:cNvSpPr/>
          <p:nvPr/>
        </p:nvSpPr>
        <p:spPr>
          <a:xfrm>
            <a:off x="1190625" y="1435447"/>
            <a:ext cx="92306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정형·반복 업무는 </a:t>
            </a:r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8F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'대체'</a:t>
            </a:r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암묵지 기반 판단은 </a:t>
            </a:r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'증폭' </a:t>
            </a:r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다관점 AI 에이전트 · 5계층 구조로 재설계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176463"/>
            <a:ext cx="1171426" cy="357188"/>
          </a:xfrm>
          <a:prstGeom prst="roundRect">
            <a:avLst>
              <a:gd name="adj" fmla="val 500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8575" dir="5400000">
              <a:srgbClr val="12203A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6300" y="2252663"/>
            <a:ext cx="86662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현행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2009626" y="2245519"/>
            <a:ext cx="5642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수집·정리·정형화·분석을 사람이 수작업 반복 · 인사이트가 베테랑 개인에 의존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686050"/>
            <a:ext cx="2641550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5825" y="2871788"/>
            <a:ext cx="24656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정보수집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5825" y="3148013"/>
            <a:ext cx="23177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기본축 수동 소싱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36900" y="2686050"/>
            <a:ext cx="2651150" cy="1034355"/>
          </a:xfrm>
          <a:prstGeom prst="roundRect">
            <a:avLst>
              <a:gd name="adj" fmla="val 14734"/>
            </a:avLst>
          </a:prstGeom>
          <a:solidFill>
            <a:srgbClr val="E9F0FC"/>
          </a:solidFill>
          <a:ln w="14288">
            <a:solidFill>
              <a:srgbClr val="1428A0"/>
            </a:solidFill>
            <a:prstDash val="solid"/>
          </a:ln>
          <a:effectLst>
            <a:outerShdw sx="100000" sy="100000" kx="0" ky="0" algn="bl" rotWithShape="0" blurRad="152400" dist="57150" dir="5400000">
              <a:srgbClr val="1428A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1688" y="2871788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② 주제 선정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41688" y="314801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1428A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우선순위 판단 (무엇을·왜 뽑나)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97600" y="2686050"/>
            <a:ext cx="2641550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97625" y="2871788"/>
            <a:ext cx="24656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정리·정형화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97625" y="3148013"/>
            <a:ext cx="23177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기사별 요약·번역· 용어 수작업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48701" y="2686050"/>
            <a:ext cx="2641625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48726" y="2871788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통계·시각화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48726" y="314801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 보완· 표/이미지 제작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2099875" y="2686050"/>
            <a:ext cx="2651150" cy="1034355"/>
          </a:xfrm>
          <a:prstGeom prst="roundRect">
            <a:avLst>
              <a:gd name="adj" fmla="val 14734"/>
            </a:avLst>
          </a:prstGeom>
          <a:solidFill>
            <a:srgbClr val="E9F0FC"/>
          </a:solidFill>
          <a:ln w="14288">
            <a:solidFill>
              <a:srgbClr val="1428A0"/>
            </a:solidFill>
            <a:prstDash val="solid"/>
          </a:ln>
          <a:effectLst>
            <a:outerShdw sx="100000" sy="100000" kx="0" ky="0" algn="bl" rotWithShape="0" blurRad="152400" dist="57150" dir="5400000">
              <a:srgbClr val="1428A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04663" y="2871788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⑤ 인사이트 도출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04663" y="314801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1428A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베테랑 암묵지 개인 의존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4960575" y="2686050"/>
            <a:ext cx="2641625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160600" y="2968451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리포트 작성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160600" y="3244676"/>
            <a:ext cx="246573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취합·편집·발송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3872805"/>
            <a:ext cx="8353425" cy="666750"/>
          </a:xfrm>
          <a:prstGeom prst="roundRect">
            <a:avLst>
              <a:gd name="adj" fmla="val 20000"/>
            </a:avLst>
          </a:prstGeom>
          <a:solidFill>
            <a:srgbClr val="F3F5F9"/>
          </a:solidFill>
          <a:ln/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6300" y="4082355"/>
            <a:ext cx="2346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68078" y="4025205"/>
            <a:ext cx="359984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병목 · 반복업무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68078" y="4220468"/>
            <a:ext cx="359984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①·③·④ 수집·정리·시각화 반복작업에 분석가 시간이 과다 소모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48775" y="3872805"/>
            <a:ext cx="8353425" cy="666750"/>
          </a:xfrm>
          <a:prstGeom prst="roundRect">
            <a:avLst>
              <a:gd name="adj" fmla="val 20000"/>
            </a:avLst>
          </a:prstGeom>
          <a:solidFill>
            <a:srgbClr val="E9F0FC"/>
          </a:solidFill>
          <a:ln/>
          <a:effectLst>
            <a:outerShdw sx="100000" sy="100000" kx="0" ky="0" algn="bl" rotWithShape="0" blurRad="114300" dist="38100" dir="5400000">
              <a:srgbClr val="1428A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39275" y="4082355"/>
            <a:ext cx="2865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782994" y="4025205"/>
            <a:ext cx="446423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암묵지·품질 병목 · 특정인 의존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82994" y="4220468"/>
            <a:ext cx="446423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428A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주제 선정 = '선택 우선순위'(왜 뽑나=인사이트) · ⑤ 인사이트 도출 → 편차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" y="4691955"/>
            <a:ext cx="1860804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정보수집 — 5개 기본축 (수동 소싱)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4982468"/>
            <a:ext cx="3276600" cy="585788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37" name="Text 35"/>
          <p:cNvSpPr/>
          <p:nvPr/>
        </p:nvSpPr>
        <p:spPr>
          <a:xfrm>
            <a:off x="838200" y="5096768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공공·정책 채널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838200" y="5296793"/>
            <a:ext cx="32689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정책브리핑, 국가데이터처 등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4095750" y="4982468"/>
            <a:ext cx="3276600" cy="585788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0" name="Text 38"/>
          <p:cNvSpPr/>
          <p:nvPr/>
        </p:nvSpPr>
        <p:spPr>
          <a:xfrm>
            <a:off x="4248150" y="5096768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미디어·뉴스 채널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248150" y="5296793"/>
            <a:ext cx="32689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언론사, 포털사이트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7505700" y="4982468"/>
            <a:ext cx="3276600" cy="585788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3" name="Text 41"/>
          <p:cNvSpPr/>
          <p:nvPr/>
        </p:nvSpPr>
        <p:spPr>
          <a:xfrm>
            <a:off x="7658100" y="5096768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연구·전문보고서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7658100" y="5296793"/>
            <a:ext cx="32689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한국은행, KDI, 산업연구원 등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10915650" y="4982468"/>
            <a:ext cx="3276600" cy="585788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6" name="Text 44"/>
          <p:cNvSpPr/>
          <p:nvPr/>
        </p:nvSpPr>
        <p:spPr>
          <a:xfrm>
            <a:off x="11068050" y="5096768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❹ 국내외 기술전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1068050" y="5296793"/>
            <a:ext cx="32689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박람회, 컨퍼런스, 기업행사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14325600" y="4982468"/>
            <a:ext cx="3276600" cy="585788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9" name="Text 47"/>
          <p:cNvSpPr/>
          <p:nvPr/>
        </p:nvSpPr>
        <p:spPr>
          <a:xfrm>
            <a:off x="14478000" y="5096768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❺ 트렌드·인사이트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4478000" y="5296793"/>
            <a:ext cx="32689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광고사 뉴스레터 등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685800" y="5796855"/>
            <a:ext cx="16916400" cy="9525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52" name="Shape 50"/>
          <p:cNvSpPr/>
          <p:nvPr/>
        </p:nvSpPr>
        <p:spPr>
          <a:xfrm>
            <a:off x="685800" y="6034980"/>
            <a:ext cx="1225897" cy="357188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  <a:effectLst>
            <a:outerShdw sx="100000" sy="100000" kx="0" ky="0" algn="bl" rotWithShape="0" blurRad="76200" dist="28575" dir="5400000">
              <a:srgbClr val="0F6FDE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76300" y="6111180"/>
            <a:ext cx="9210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개선</a:t>
            </a:r>
            <a:endParaRPr lang="en-US" sz="1275" dirty="0"/>
          </a:p>
        </p:txBody>
      </p:sp>
      <p:sp>
        <p:nvSpPr>
          <p:cNvPr id="54" name="Text 52"/>
          <p:cNvSpPr/>
          <p:nvPr/>
        </p:nvSpPr>
        <p:spPr>
          <a:xfrm>
            <a:off x="2064097" y="6104037"/>
            <a:ext cx="613375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수집은 자동화로 '대체', L2~L4 암묵지·다관점 판단은 '증폭' — 최종 판단은 사람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16029608" y="615166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F6FDE"/>
          </a:solidFill>
          <a:ln/>
        </p:spPr>
      </p:sp>
      <p:sp>
        <p:nvSpPr>
          <p:cNvPr id="56" name="Text 54"/>
          <p:cNvSpPr/>
          <p:nvPr/>
        </p:nvSpPr>
        <p:spPr>
          <a:xfrm>
            <a:off x="16210583" y="6130230"/>
            <a:ext cx="54664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대체(AI)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6852478" y="615166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1428A0"/>
          </a:solidFill>
          <a:ln/>
        </p:spPr>
      </p:sp>
      <p:sp>
        <p:nvSpPr>
          <p:cNvPr id="58" name="Text 56"/>
          <p:cNvSpPr/>
          <p:nvPr/>
        </p:nvSpPr>
        <p:spPr>
          <a:xfrm>
            <a:off x="17033453" y="6130230"/>
            <a:ext cx="6449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증폭(사람)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5800" y="6544568"/>
            <a:ext cx="714301" cy="252413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</p:spPr>
      </p:sp>
      <p:sp>
        <p:nvSpPr>
          <p:cNvPr id="60" name="Text 58"/>
          <p:cNvSpPr/>
          <p:nvPr/>
        </p:nvSpPr>
        <p:spPr>
          <a:xfrm>
            <a:off x="819150" y="6592193"/>
            <a:ext cx="52380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· AI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685800" y="6873180"/>
            <a:ext cx="3215580" cy="1005780"/>
          </a:xfrm>
          <a:prstGeom prst="roundRect">
            <a:avLst>
              <a:gd name="adj" fmla="val 15152"/>
            </a:avLst>
          </a:prstGeom>
          <a:solidFill>
            <a:srgbClr val="EAF2FD"/>
          </a:solidFill>
          <a:ln/>
          <a:effectLst>
            <a:outerShdw sx="100000" sy="100000" kx="0" ky="0" algn="bl" rotWithShape="0" blurRad="114300" dist="38100" dir="5400000">
              <a:srgbClr val="0F6FDE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76300" y="7044630"/>
            <a:ext cx="311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정보 수집 계층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876300" y="7320855"/>
            <a:ext cx="291961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기본축 정보 수집 크롤링·중복제거·1차 선별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110930" y="6544568"/>
            <a:ext cx="1173882" cy="252413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65" name="Text 63"/>
          <p:cNvSpPr/>
          <p:nvPr/>
        </p:nvSpPr>
        <p:spPr>
          <a:xfrm>
            <a:off x="4244280" y="6592193"/>
            <a:ext cx="98338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증폭 · 핵심자산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4110930" y="6873180"/>
            <a:ext cx="3215655" cy="1005780"/>
          </a:xfrm>
          <a:prstGeom prst="roundRect">
            <a:avLst>
              <a:gd name="adj" fmla="val 15152"/>
            </a:avLst>
          </a:prstGeom>
          <a:solidFill>
            <a:srgbClr val="DCE6FA"/>
          </a:solidFill>
          <a:ln/>
          <a:effectLst>
            <a:outerShdw sx="100000" sy="100000" kx="0" ky="0" algn="bl" rotWithShape="0" blurRad="152400" dist="57150" dir="5400000">
              <a:srgbClr val="1428A0">
                <a:alpha val="3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301430" y="7044630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지식 계층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4301430" y="7320855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정보의 채택/기각 요인, 판단근거 등 암묵지를 구조화하여 기록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536135" y="6544568"/>
            <a:ext cx="907033" cy="252413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</p:spPr>
      </p:sp>
      <p:sp>
        <p:nvSpPr>
          <p:cNvPr id="70" name="Text 68"/>
          <p:cNvSpPr/>
          <p:nvPr/>
        </p:nvSpPr>
        <p:spPr>
          <a:xfrm>
            <a:off x="7669485" y="6592193"/>
            <a:ext cx="71653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증폭 · 다관점</a:t>
            </a:r>
            <a:endParaRPr lang="en-US" sz="975" dirty="0"/>
          </a:p>
        </p:txBody>
      </p:sp>
      <p:sp>
        <p:nvSpPr>
          <p:cNvPr id="71" name="Shape 69"/>
          <p:cNvSpPr/>
          <p:nvPr/>
        </p:nvSpPr>
        <p:spPr>
          <a:xfrm>
            <a:off x="7536135" y="6873180"/>
            <a:ext cx="3215655" cy="1005780"/>
          </a:xfrm>
          <a:prstGeom prst="roundRect">
            <a:avLst>
              <a:gd name="adj" fmla="val 15152"/>
            </a:avLst>
          </a:prstGeom>
          <a:solidFill>
            <a:srgbClr val="EAF2FD"/>
          </a:solidFill>
          <a:ln/>
          <a:effectLst>
            <a:outerShdw sx="100000" sy="100000" kx="0" ky="0" algn="bl" rotWithShape="0" blurRad="114300" dist="38100" dir="5400000">
              <a:srgbClr val="0F6FDE">
                <a:alpha val="2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726635" y="7044630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에이전트 계층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7726635" y="7320855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L1, L2를 믹싱하여 다양한 관점에서 시사점 도출 (관점 충돌 시 사람이 판단)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0961340" y="6544568"/>
            <a:ext cx="799877" cy="252413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75" name="Text 73"/>
          <p:cNvSpPr/>
          <p:nvPr/>
        </p:nvSpPr>
        <p:spPr>
          <a:xfrm>
            <a:off x="11094690" y="6592193"/>
            <a:ext cx="60937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증폭 · 인간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10961340" y="6873180"/>
            <a:ext cx="3215655" cy="1005780"/>
          </a:xfrm>
          <a:prstGeom prst="roundRect">
            <a:avLst>
              <a:gd name="adj" fmla="val 15152"/>
            </a:avLst>
          </a:prstGeom>
          <a:solidFill>
            <a:srgbClr val="DCE6FA"/>
          </a:solidFill>
          <a:ln/>
          <a:effectLst>
            <a:outerShdw sx="100000" sy="100000" kx="0" ky="0" algn="bl" rotWithShape="0" blurRad="152400" dist="57150" dir="5400000">
              <a:srgbClr val="1428A0">
                <a:alpha val="3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11151840" y="7044630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종합·판단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1151840" y="7320855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최종 판단 채택/기각 표시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4386545" y="6544568"/>
            <a:ext cx="480938" cy="252413"/>
          </a:xfrm>
          <a:prstGeom prst="roundRect">
            <a:avLst>
              <a:gd name="adj" fmla="val 50000"/>
            </a:avLst>
          </a:prstGeom>
          <a:solidFill>
            <a:srgbClr val="8A93A6"/>
          </a:solidFill>
          <a:ln/>
        </p:spPr>
      </p:sp>
      <p:sp>
        <p:nvSpPr>
          <p:cNvPr id="80" name="Text 78"/>
          <p:cNvSpPr/>
          <p:nvPr/>
        </p:nvSpPr>
        <p:spPr>
          <a:xfrm>
            <a:off x="14519895" y="6592193"/>
            <a:ext cx="2904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endParaRPr lang="en-US" sz="975" dirty="0"/>
          </a:p>
        </p:txBody>
      </p:sp>
      <p:sp>
        <p:nvSpPr>
          <p:cNvPr id="81" name="Shape 79"/>
          <p:cNvSpPr/>
          <p:nvPr/>
        </p:nvSpPr>
        <p:spPr>
          <a:xfrm>
            <a:off x="14386545" y="6873180"/>
            <a:ext cx="3215655" cy="1005780"/>
          </a:xfrm>
          <a:prstGeom prst="roundRect">
            <a:avLst>
              <a:gd name="adj" fmla="val 15152"/>
            </a:avLst>
          </a:prstGeom>
          <a:solidFill>
            <a:srgbClr val="F3F5F9"/>
          </a:solidFill>
          <a:ln/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14577045" y="7044630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학습 계층</a:t>
            </a:r>
            <a:endParaRPr lang="en-US" sz="1350" dirty="0"/>
          </a:p>
        </p:txBody>
      </p:sp>
      <p:sp>
        <p:nvSpPr>
          <p:cNvPr id="83" name="Text 81"/>
          <p:cNvSpPr/>
          <p:nvPr/>
        </p:nvSpPr>
        <p:spPr>
          <a:xfrm>
            <a:off x="14577045" y="7320855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축적·평가기준·프롬프트 개선 (피드백 루프)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860804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실행 설계 : 다관점 AI 에이전트 · 암묵지 코드화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1176338"/>
            <a:ext cx="16916400" cy="57150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B1F63">
                  <a:alpha val="100000"/>
                </a:srgbClr>
              </a:gs>
              <a:gs pos="60000">
                <a:srgbClr val="1428A0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28600" dist="95250" dir="5400000">
              <a:srgbClr val="1428A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28738"/>
            <a:ext cx="57150" cy="266700"/>
          </a:xfrm>
          <a:prstGeom prst="roundRect">
            <a:avLst>
              <a:gd name="adj" fmla="val 50000"/>
            </a:avLst>
          </a:prstGeom>
          <a:solidFill>
            <a:srgbClr val="8FD3FF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1333500"/>
            <a:ext cx="48819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차별화는 </a:t>
            </a:r>
            <a:pPr algn="l" indent="0" marL="0">
              <a:buNone/>
            </a:pPr>
            <a:r>
              <a:rPr lang="en-US" sz="1575" b="1" dirty="0">
                <a:solidFill>
                  <a:srgbClr val="8F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'다관점 에이전트'</a:t>
            </a:r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</a:t>
            </a:r>
            <a:pPr algn="l" indent="0" marL="0">
              <a:buNone/>
            </a:pPr>
            <a:r>
              <a:rPr lang="en-US" sz="1575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'암묵지 코드화'</a:t>
            </a:r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 나온다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685800" y="1976438"/>
            <a:ext cx="3123456" cy="376238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  <a:effectLst>
            <a:outerShdw sx="100000" sy="100000" kx="0" ky="0" algn="bl" rotWithShape="0" blurRad="76200" dist="28575" dir="5400000">
              <a:srgbClr val="0F6FD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6300" y="2062163"/>
            <a:ext cx="283616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다관점 AI 에이전트 (4개 관점, L3 계층)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685800" y="2505075"/>
            <a:ext cx="1676400" cy="1153716"/>
          </a:xfrm>
          <a:prstGeom prst="roundRect">
            <a:avLst>
              <a:gd name="adj" fmla="val 11558"/>
            </a:avLst>
          </a:prstGeom>
          <a:gradFill rotWithShape="1">
            <a:gsLst>
              <a:gs pos="0">
                <a:srgbClr val="1B3EC2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52400" dist="57150" dir="5400000">
              <a:srgbClr val="0F6FDE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3900" y="2581275"/>
            <a:ext cx="1600200" cy="103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상품/서비스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495550" y="2505075"/>
            <a:ext cx="6708353" cy="1153716"/>
          </a:xfrm>
          <a:prstGeom prst="roundRect">
            <a:avLst>
              <a:gd name="adj" fmla="val 1155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24150" y="2505075"/>
            <a:ext cx="6452404" cy="119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변화가 우리가 제공하는 상품/서비스의 본질과 라인업에 미치는 영향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685800" y="3773091"/>
            <a:ext cx="1676400" cy="1153716"/>
          </a:xfrm>
          <a:prstGeom prst="roundRect">
            <a:avLst>
              <a:gd name="adj" fmla="val 11558"/>
            </a:avLst>
          </a:prstGeom>
          <a:gradFill rotWithShape="1">
            <a:gsLst>
              <a:gs pos="0">
                <a:srgbClr val="1B3EC2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52400" dist="57150" dir="5400000">
              <a:srgbClr val="0F6FDE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900" y="3849291"/>
            <a:ext cx="1600200" cy="103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영업/채널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495550" y="3773091"/>
            <a:ext cx="6708353" cy="1153716"/>
          </a:xfrm>
          <a:prstGeom prst="roundRect">
            <a:avLst>
              <a:gd name="adj" fmla="val 1155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24150" y="3773091"/>
            <a:ext cx="6452404" cy="119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변화가 영업 기회와 매출에 미치는 영향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85800" y="5041106"/>
            <a:ext cx="1676400" cy="1153716"/>
          </a:xfrm>
          <a:prstGeom prst="roundRect">
            <a:avLst>
              <a:gd name="adj" fmla="val 11558"/>
            </a:avLst>
          </a:prstGeom>
          <a:gradFill rotWithShape="1">
            <a:gsLst>
              <a:gs pos="0">
                <a:srgbClr val="1B3EC2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52400" dist="57150" dir="5400000">
              <a:srgbClr val="0F6FDE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3900" y="5117306"/>
            <a:ext cx="1600200" cy="103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기술/인프라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495550" y="5041106"/>
            <a:ext cx="6708353" cy="1153716"/>
          </a:xfrm>
          <a:prstGeom prst="roundRect">
            <a:avLst>
              <a:gd name="adj" fmla="val 1155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24150" y="5041106"/>
            <a:ext cx="6452404" cy="119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변화를 뒷받침하거나 대응하기 위한 내부 기술 역량과 시스템의 영향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85800" y="6309122"/>
            <a:ext cx="1676400" cy="1153716"/>
          </a:xfrm>
          <a:prstGeom prst="roundRect">
            <a:avLst>
              <a:gd name="adj" fmla="val 11558"/>
            </a:avLst>
          </a:prstGeom>
          <a:gradFill rotWithShape="1">
            <a:gsLst>
              <a:gs pos="0">
                <a:srgbClr val="1B3EC2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52400" dist="57150" dir="5400000">
              <a:srgbClr val="0F6FDE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3900" y="6385322"/>
            <a:ext cx="1600200" cy="103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495550" y="6309122"/>
            <a:ext cx="6708353" cy="1153716"/>
          </a:xfrm>
          <a:prstGeom prst="roundRect">
            <a:avLst>
              <a:gd name="adj" fmla="val 1155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57150" dist="19050" dir="5400000">
              <a:srgbClr val="12203A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24150" y="6309122"/>
            <a:ext cx="6452404" cy="119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4B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메시징 및 포지셔닝, 마케팅 캠페인 등 인사이트 도출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9489653" y="1976438"/>
            <a:ext cx="3168700" cy="376238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  <a:effectLst>
            <a:outerShdw sx="100000" sy="100000" kx="0" ky="0" algn="bl" rotWithShape="0" blurRad="76200" dist="28575" dir="5400000">
              <a:srgbClr val="1428A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80153" y="2062163"/>
            <a:ext cx="28827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암묵지 코드화 (핵심 자산) — 사람의 역할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9489653" y="2505075"/>
            <a:ext cx="8112547" cy="4957763"/>
          </a:xfrm>
          <a:prstGeom prst="roundRect">
            <a:avLst>
              <a:gd name="adj" fmla="val 3458"/>
            </a:avLst>
          </a:prstGeom>
          <a:solidFill>
            <a:srgbClr val="E4EAF9"/>
          </a:solidFill>
          <a:ln/>
          <a:effectLst>
            <a:outerShdw sx="100000" sy="100000" kx="0" ky="0" algn="bl" rotWithShape="0" blurRad="133350" dist="38100" dir="5400000">
              <a:srgbClr val="1428A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32578" y="3038475"/>
            <a:ext cx="19050" cy="3890962"/>
          </a:xfrm>
          <a:prstGeom prst="rect">
            <a:avLst/>
          </a:prstGeom>
          <a:solidFill>
            <a:srgbClr val="B7C6EC"/>
          </a:solidFill>
          <a:ln/>
        </p:spPr>
      </p:sp>
      <p:sp>
        <p:nvSpPr>
          <p:cNvPr id="28" name="Shape 26"/>
          <p:cNvSpPr/>
          <p:nvPr/>
        </p:nvSpPr>
        <p:spPr>
          <a:xfrm>
            <a:off x="9870653" y="3177183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sx="100000" sy="100000" kx="0" ky="0" algn="bl" rotWithShape="0" blurRad="95250" dist="38100" dir="5400000">
              <a:srgbClr val="1428A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32553" y="317718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461203" y="3246239"/>
            <a:ext cx="300786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결론(무엇을) 아닌 근거(왜)를 코드화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870653" y="4254698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sx="100000" sy="100000" kx="0" ky="0" algn="bl" rotWithShape="0" blurRad="95250" dist="38100" dir="5400000">
              <a:srgbClr val="1428A0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832553" y="425469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461203" y="4323755"/>
            <a:ext cx="158914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우선 표준 양식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870653" y="5332214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sx="100000" sy="100000" kx="0" ky="0" algn="bl" rotWithShape="0" blurRad="95250" dist="38100" dir="5400000">
              <a:srgbClr val="1428A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32553" y="5332214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461203" y="5401270"/>
            <a:ext cx="195168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 사례 인터뷰로 추출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870653" y="6409730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sx="100000" sy="100000" kx="0" ky="0" algn="bl" rotWithShape="0" blurRad="95250" dist="38100" dir="5400000">
              <a:srgbClr val="1428A0">
                <a:alpha val="5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832553" y="640973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461203" y="6478786"/>
            <a:ext cx="237790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채택/기각 기록 = 학습 데이터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5800" y="7691438"/>
            <a:ext cx="1166440" cy="376238"/>
          </a:xfrm>
          <a:prstGeom prst="roundRect">
            <a:avLst>
              <a:gd name="adj" fmla="val 500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8575" dir="5400000">
              <a:srgbClr val="12203A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76300" y="7777163"/>
            <a:ext cx="86164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추진 계획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685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sx="100000" sy="100000" kx="0" ky="0" algn="bl" rotWithShape="0" blurRad="171450" dist="57150" dir="5400000">
              <a:srgbClr val="12203A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" y="8220075"/>
            <a:ext cx="5486400" cy="471488"/>
          </a:xfrm>
          <a:prstGeom prst="rect">
            <a:avLst/>
          </a:prstGeom>
          <a:solidFill>
            <a:srgbClr val="0F6FDE"/>
          </a:solidFill>
          <a:ln/>
        </p:spPr>
      </p:sp>
      <p:sp>
        <p:nvSpPr>
          <p:cNvPr id="44" name="Text 42"/>
          <p:cNvSpPr/>
          <p:nvPr/>
        </p:nvSpPr>
        <p:spPr>
          <a:xfrm>
            <a:off x="895350" y="8353425"/>
            <a:ext cx="523189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 기준 정의·사례 정리·수집 자동화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685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8882063"/>
            <a:ext cx="5193792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647"/>
              </a:lnSpc>
              <a:buNone/>
            </a:pPr>
            <a:r>
              <a:rPr lang="en-US" sz="1125" dirty="0">
                <a:solidFill>
                  <a:srgbClr val="4B5566"/>
                </a:solidFill>
                <a:highlight>
                  <a:srgbClr val="F3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• 범위·선별 기준·에이전트 관점(역할) 정의 • 베테랑 워크숍 → 핵심 사례 20~30건 정리·저장 • 수집 자동화 시범 구축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6400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sx="100000" sy="100000" kx="0" ky="0" algn="bl" rotWithShape="0" blurRad="171450" dist="57150" dir="5400000">
              <a:srgbClr val="1428A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8220075"/>
            <a:ext cx="5486400" cy="471488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9" name="Text 47"/>
          <p:cNvSpPr/>
          <p:nvPr/>
        </p:nvSpPr>
        <p:spPr>
          <a:xfrm>
            <a:off x="6610350" y="8353425"/>
            <a:ext cx="523189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 에이전트 시범 구축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6400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6629400" y="8882063"/>
            <a:ext cx="5193792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647"/>
              </a:lnSpc>
              <a:buNone/>
            </a:pPr>
            <a:r>
              <a:rPr lang="en-US" sz="1125" dirty="0">
                <a:solidFill>
                  <a:srgbClr val="4B5566"/>
                </a:solidFill>
                <a:highlight>
                  <a:srgbClr val="F3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• 4개 관점 에이전트 시제품 구축 • 과거 리포트로 성능 검증 • 관점 충돌·확신도 표시 화면 설계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12115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sx="100000" sy="100000" kx="0" ky="0" algn="bl" rotWithShape="0" blurRad="171450" dist="57150" dir="5400000">
              <a:srgbClr val="12203A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2115800" y="8220075"/>
            <a:ext cx="5486400" cy="471488"/>
          </a:xfrm>
          <a:prstGeom prst="rect">
            <a:avLst/>
          </a:prstGeom>
          <a:solidFill>
            <a:srgbClr val="12203A"/>
          </a:solidFill>
          <a:ln/>
        </p:spPr>
      </p:sp>
      <p:sp>
        <p:nvSpPr>
          <p:cNvPr id="54" name="Text 52"/>
          <p:cNvSpPr/>
          <p:nvPr/>
        </p:nvSpPr>
        <p:spPr>
          <a:xfrm>
            <a:off x="12325350" y="8353425"/>
            <a:ext cx="523189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 시범운영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12115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12344400" y="8882063"/>
            <a:ext cx="5193792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647"/>
              </a:lnSpc>
              <a:buNone/>
            </a:pPr>
            <a:r>
              <a:rPr lang="en-US" sz="1125" dirty="0">
                <a:solidFill>
                  <a:srgbClr val="4B5566"/>
                </a:solidFill>
                <a:highlight>
                  <a:srgbClr val="F3F5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• 1~2회 실제 발행 사이클에 병행 적용 • 채택/기각 기록 운영 → 학습 데이터 확보 • ※ 이후 정식운영·개선 확장(4단계)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2026-07-23T09:53:29Z</dcterms:created>
  <dcterms:modified xsi:type="dcterms:W3CDTF">2026-07-23T09:53:29Z</dcterms:modified>
</cp:coreProperties>
</file>