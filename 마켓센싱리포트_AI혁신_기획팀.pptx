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797675" cy="9926638"/>
  <p:embeddedFontLst>
    <p:embeddedFont>
      <p:font typeface="SamsungOneKorean 500" panose="020B0603030303020204" pitchFamily="50" charset="-127"/>
      <p:regular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6AE"/>
    <a:srgbClr val="4B55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64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44" y="7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56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rPr lang="en-US" dirty="0"/>
              <a:t>마켓센싱 리포트 제작 프로세스를 As-Is(현행)와 To-Be(개선)로 비교. 현행은 6단계 수작업 흐름과 2가지 병목(시간/암묵지), 개선안은 5계층 구조로 재설계.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rPr lang="en-US" dirty="0"/>
              <a:t>다관점 AI 에이전트 4개 관점, 암묵지 코드화 4단계, 3개월 추진 계획을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275" y="221457"/>
            <a:ext cx="173631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kern="0" spc="-34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마켓센싱 리포트 AI 전환</a:t>
            </a:r>
            <a:endParaRPr lang="en-US" sz="480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243013"/>
            <a:ext cx="16916400" cy="704850"/>
          </a:xfrm>
          <a:prstGeom prst="roundRect">
            <a:avLst>
              <a:gd name="adj" fmla="val 21622"/>
            </a:avLst>
          </a:prstGeom>
          <a:gradFill rotWithShape="1">
            <a:gsLst>
              <a:gs pos="0">
                <a:srgbClr val="0B1F63">
                  <a:alpha val="100000"/>
                </a:srgbClr>
              </a:gs>
              <a:gs pos="60000">
                <a:srgbClr val="1428A0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2700000" scaled="0"/>
          </a:gradFill>
          <a:ln/>
          <a:effectLst>
            <a:outerShdw blurRad="228600" dist="95250" dir="5400000" algn="bl" rotWithShape="0">
              <a:srgbClr val="1428A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2500" y="1433513"/>
            <a:ext cx="66675" cy="323850"/>
          </a:xfrm>
          <a:prstGeom prst="roundRect">
            <a:avLst>
              <a:gd name="adj" fmla="val 50000"/>
            </a:avLst>
          </a:prstGeom>
          <a:solidFill>
            <a:srgbClr val="8FD3F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2652" y="1334795"/>
            <a:ext cx="15661853" cy="60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정형·반복 업무는 </a:t>
            </a:r>
            <a:r>
              <a:rPr lang="en-US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'대체'</a:t>
            </a:r>
            <a:r>
              <a:rPr lang="en-US" sz="32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, 암묵지 기반 </a:t>
            </a:r>
            <a:r>
              <a:rPr lang="en-US" sz="3200" b="1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판단은 </a:t>
            </a:r>
            <a:r>
              <a:rPr lang="en-US" altLang="ko-KR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고도화</a:t>
            </a:r>
            <a:r>
              <a:rPr lang="en-US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 </a:t>
            </a:r>
            <a:r>
              <a:rPr lang="en-US" sz="32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— 다관점 AI 에이전트 · 5계층 구조로 재설계</a:t>
            </a:r>
            <a:endParaRPr lang="en-US" sz="32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685800" y="2176461"/>
            <a:ext cx="13801733" cy="468000"/>
            <a:chOff x="685800" y="2176463"/>
            <a:chExt cx="6899259" cy="347525"/>
          </a:xfrm>
        </p:grpSpPr>
        <p:sp>
          <p:nvSpPr>
            <p:cNvPr id="6" name="Shape 4"/>
            <p:cNvSpPr/>
            <p:nvPr/>
          </p:nvSpPr>
          <p:spPr>
            <a:xfrm>
              <a:off x="685800" y="2176463"/>
              <a:ext cx="1151732" cy="347525"/>
            </a:xfrm>
            <a:prstGeom prst="roundRect">
              <a:avLst>
                <a:gd name="adj" fmla="val 50000"/>
              </a:avLst>
            </a:prstGeom>
            <a:solidFill>
              <a:srgbClr val="12203A"/>
            </a:solidFill>
            <a:ln/>
            <a:effectLst>
              <a:outerShdw blurRad="76200" dist="28575" dir="5400000" algn="bl" rotWithShape="0">
                <a:srgbClr val="12203A">
                  <a:alpha val="30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912721" y="2204859"/>
              <a:ext cx="866626" cy="2428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kern="0" spc="26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AS-IS 현행</a:t>
              </a:r>
              <a:endParaRPr lang="en-US" sz="24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942189" y="2199172"/>
              <a:ext cx="5642870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수집·정리·정형화·분석을 사람이 수작업 반복 </a:t>
              </a:r>
              <a:r>
                <a:rPr lang="en-US" sz="280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· </a:t>
              </a:r>
              <a:r>
                <a:rPr lang="en-US" sz="280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인사이트</a:t>
              </a:r>
              <a:r>
                <a:rPr lang="ko-KR" altLang="en-US" sz="280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도</a:t>
              </a:r>
              <a:r>
                <a:rPr lang="en-US" sz="280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개인에 </a:t>
              </a:r>
              <a:r>
                <a:rPr lang="en-US" sz="28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의존</a:t>
              </a:r>
              <a:endParaRPr lang="en-US" sz="28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</p:grpSp>
      <p:sp>
        <p:nvSpPr>
          <p:cNvPr id="9" name="Shape 7"/>
          <p:cNvSpPr/>
          <p:nvPr/>
        </p:nvSpPr>
        <p:spPr>
          <a:xfrm>
            <a:off x="685800" y="3000840"/>
            <a:ext cx="2641550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85825" y="3097090"/>
            <a:ext cx="24656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 정보수집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5825" y="3462803"/>
            <a:ext cx="23177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5개 기본축 수동 소싱</a:t>
            </a:r>
            <a:endParaRPr lang="en-US" sz="1600" dirty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36900" y="3000840"/>
            <a:ext cx="2651150" cy="1034355"/>
          </a:xfrm>
          <a:prstGeom prst="roundRect">
            <a:avLst>
              <a:gd name="adj" fmla="val 14734"/>
            </a:avLst>
          </a:prstGeom>
          <a:solidFill>
            <a:srgbClr val="E9F0FC"/>
          </a:solidFill>
          <a:ln w="14288">
            <a:solidFill>
              <a:srgbClr val="1428A0"/>
            </a:solidFill>
            <a:prstDash val="solid"/>
          </a:ln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67709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★ ② 주제 선정</a:t>
            </a:r>
            <a:endParaRPr lang="en-US" sz="2000" dirty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41688" y="346280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 err="1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선택</a:t>
            </a: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우선</a:t>
            </a:r>
            <a:r>
              <a:rPr lang="en-US" sz="1600" dirty="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순위</a:t>
            </a:r>
            <a:r>
              <a:rPr lang="en-US" sz="1600" dirty="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</a:t>
            </a:r>
            <a:endParaRPr lang="en-US" sz="1600" dirty="0" smtClean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600" dirty="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</a:t>
            </a: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무엇을·왜 뽑나)</a:t>
            </a:r>
            <a:endParaRPr lang="en-US" sz="1600" dirty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97600" y="3000840"/>
            <a:ext cx="2641550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97625" y="3097090"/>
            <a:ext cx="24656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③ 정리·정형화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97625" y="3462803"/>
            <a:ext cx="26511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기사별 요약·번역· 용어 수작업</a:t>
            </a:r>
          </a:p>
        </p:txBody>
      </p:sp>
      <p:sp>
        <p:nvSpPr>
          <p:cNvPr id="18" name="Shape 16"/>
          <p:cNvSpPr/>
          <p:nvPr/>
        </p:nvSpPr>
        <p:spPr>
          <a:xfrm>
            <a:off x="9248701" y="3000840"/>
            <a:ext cx="2641625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48726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④ 통계·시각화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48726" y="346280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수치 보완· 표/이미지 제작</a:t>
            </a:r>
          </a:p>
        </p:txBody>
      </p:sp>
      <p:sp>
        <p:nvSpPr>
          <p:cNvPr id="21" name="Shape 19"/>
          <p:cNvSpPr/>
          <p:nvPr/>
        </p:nvSpPr>
        <p:spPr>
          <a:xfrm>
            <a:off x="12099875" y="3000840"/>
            <a:ext cx="2651150" cy="1034355"/>
          </a:xfrm>
          <a:prstGeom prst="roundRect">
            <a:avLst>
              <a:gd name="adj" fmla="val 14734"/>
            </a:avLst>
          </a:prstGeom>
          <a:solidFill>
            <a:srgbClr val="E9F0FC"/>
          </a:solidFill>
          <a:ln w="14288">
            <a:solidFill>
              <a:srgbClr val="1428A0"/>
            </a:solidFill>
            <a:prstDash val="solid"/>
          </a:ln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304663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★ ⑤ 인사이트 도출</a:t>
            </a:r>
            <a:endParaRPr lang="en-US" sz="2000" dirty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304663" y="346280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 암묵지 </a:t>
            </a: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개인 의존</a:t>
            </a:r>
          </a:p>
        </p:txBody>
      </p:sp>
      <p:sp>
        <p:nvSpPr>
          <p:cNvPr id="24" name="Shape 22"/>
          <p:cNvSpPr/>
          <p:nvPr/>
        </p:nvSpPr>
        <p:spPr>
          <a:xfrm>
            <a:off x="14960575" y="3000840"/>
            <a:ext cx="2641625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5160600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⑥ 리포트 작성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160600" y="3462803"/>
            <a:ext cx="246573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취합·편집·발송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4187595"/>
            <a:ext cx="8353425" cy="885824"/>
          </a:xfrm>
          <a:prstGeom prst="roundRect">
            <a:avLst>
              <a:gd name="adj" fmla="val 20000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2704" y="4378095"/>
            <a:ext cx="2346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▲</a:t>
            </a:r>
            <a:endParaRPr lang="en-US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68078" y="4404289"/>
            <a:ext cx="359984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시간 병목 · 반복업무</a:t>
            </a:r>
          </a:p>
        </p:txBody>
      </p:sp>
      <p:sp>
        <p:nvSpPr>
          <p:cNvPr id="30" name="Text 28"/>
          <p:cNvSpPr/>
          <p:nvPr/>
        </p:nvSpPr>
        <p:spPr>
          <a:xfrm>
            <a:off x="1216676" y="4650748"/>
            <a:ext cx="5474314" cy="316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①·③·④ 수집·정리·시각화 반복작업에 분석가 시간이 과다 소모</a:t>
            </a:r>
          </a:p>
        </p:txBody>
      </p:sp>
      <p:sp>
        <p:nvSpPr>
          <p:cNvPr id="31" name="Shape 29"/>
          <p:cNvSpPr/>
          <p:nvPr/>
        </p:nvSpPr>
        <p:spPr>
          <a:xfrm>
            <a:off x="9248775" y="4187594"/>
            <a:ext cx="8353425" cy="885825"/>
          </a:xfrm>
          <a:prstGeom prst="roundRect">
            <a:avLst>
              <a:gd name="adj" fmla="val 20000"/>
            </a:avLst>
          </a:prstGeom>
          <a:solidFill>
            <a:srgbClr val="E9F0FC"/>
          </a:solidFill>
          <a:ln/>
          <a:effectLst>
            <a:outerShdw blurRad="114300" dist="38100" dir="5400000" algn="bl" rotWithShape="0">
              <a:srgbClr val="1428A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448726" y="4354311"/>
            <a:ext cx="2865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★</a:t>
            </a:r>
            <a:endParaRPr lang="en-US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782994" y="4339995"/>
            <a:ext cx="44642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암묵지·품질 병목 · 특정인 의존</a:t>
            </a:r>
          </a:p>
        </p:txBody>
      </p:sp>
      <p:sp>
        <p:nvSpPr>
          <p:cNvPr id="34" name="Text 32"/>
          <p:cNvSpPr/>
          <p:nvPr/>
        </p:nvSpPr>
        <p:spPr>
          <a:xfrm>
            <a:off x="9782993" y="4672905"/>
            <a:ext cx="7802441" cy="27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② 주제 선정 = '선택 우선순위'(왜 뽑나=인사이트) · ⑤ 인사이트 도출 → 편차</a:t>
            </a:r>
          </a:p>
        </p:txBody>
      </p:sp>
      <p:sp>
        <p:nvSpPr>
          <p:cNvPr id="35" name="Text 33"/>
          <p:cNvSpPr/>
          <p:nvPr/>
        </p:nvSpPr>
        <p:spPr>
          <a:xfrm>
            <a:off x="701286" y="5215093"/>
            <a:ext cx="1860804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 정보수집 — 5개 기본축 (수동 소싱)</a:t>
            </a:r>
          </a:p>
        </p:txBody>
      </p:sp>
      <p:sp>
        <p:nvSpPr>
          <p:cNvPr id="36" name="Shape 34"/>
          <p:cNvSpPr/>
          <p:nvPr/>
        </p:nvSpPr>
        <p:spPr>
          <a:xfrm>
            <a:off x="70128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5368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❶ 공공·정책 채널</a:t>
            </a:r>
          </a:p>
        </p:txBody>
      </p:sp>
      <p:sp>
        <p:nvSpPr>
          <p:cNvPr id="38" name="Text 36"/>
          <p:cNvSpPr/>
          <p:nvPr/>
        </p:nvSpPr>
        <p:spPr>
          <a:xfrm>
            <a:off x="1202286" y="6151152"/>
            <a:ext cx="2954417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정책브리핑, 국가데이터처 등</a:t>
            </a:r>
          </a:p>
        </p:txBody>
      </p:sp>
      <p:sp>
        <p:nvSpPr>
          <p:cNvPr id="39" name="Shape 37"/>
          <p:cNvSpPr/>
          <p:nvPr/>
        </p:nvSpPr>
        <p:spPr>
          <a:xfrm>
            <a:off x="411123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26363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❷ 미디어·뉴스 채널</a:t>
            </a:r>
          </a:p>
        </p:txBody>
      </p:sp>
      <p:sp>
        <p:nvSpPr>
          <p:cNvPr id="41" name="Text 39"/>
          <p:cNvSpPr/>
          <p:nvPr/>
        </p:nvSpPr>
        <p:spPr>
          <a:xfrm>
            <a:off x="4579673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주요 언론사, 포털사이트</a:t>
            </a:r>
          </a:p>
        </p:txBody>
      </p:sp>
      <p:sp>
        <p:nvSpPr>
          <p:cNvPr id="42" name="Shape 40"/>
          <p:cNvSpPr/>
          <p:nvPr/>
        </p:nvSpPr>
        <p:spPr>
          <a:xfrm>
            <a:off x="752118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67358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❸ 연구·전문보고서</a:t>
            </a:r>
          </a:p>
        </p:txBody>
      </p:sp>
      <p:sp>
        <p:nvSpPr>
          <p:cNvPr id="44" name="Text 42"/>
          <p:cNvSpPr/>
          <p:nvPr/>
        </p:nvSpPr>
        <p:spPr>
          <a:xfrm>
            <a:off x="8002234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한국은행, KDI, 산업연구원 등</a:t>
            </a:r>
          </a:p>
        </p:txBody>
      </p:sp>
      <p:sp>
        <p:nvSpPr>
          <p:cNvPr id="45" name="Shape 43"/>
          <p:cNvSpPr/>
          <p:nvPr/>
        </p:nvSpPr>
        <p:spPr>
          <a:xfrm>
            <a:off x="1093113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1108353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❹ 국내외 기술전</a:t>
            </a:r>
          </a:p>
        </p:txBody>
      </p:sp>
      <p:sp>
        <p:nvSpPr>
          <p:cNvPr id="47" name="Text 45"/>
          <p:cNvSpPr/>
          <p:nvPr/>
        </p:nvSpPr>
        <p:spPr>
          <a:xfrm>
            <a:off x="11353458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박람회, 컨퍼런스, 기업행사</a:t>
            </a:r>
          </a:p>
        </p:txBody>
      </p:sp>
      <p:sp>
        <p:nvSpPr>
          <p:cNvPr id="48" name="Shape 46"/>
          <p:cNvSpPr/>
          <p:nvPr/>
        </p:nvSpPr>
        <p:spPr>
          <a:xfrm>
            <a:off x="1434108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449348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❺ 트렌드·인사이트</a:t>
            </a:r>
          </a:p>
        </p:txBody>
      </p:sp>
      <p:sp>
        <p:nvSpPr>
          <p:cNvPr id="50" name="Text 48"/>
          <p:cNvSpPr/>
          <p:nvPr/>
        </p:nvSpPr>
        <p:spPr>
          <a:xfrm>
            <a:off x="14770395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광고사 뉴스레터 등</a:t>
            </a:r>
          </a:p>
        </p:txBody>
      </p:sp>
      <p:sp>
        <p:nvSpPr>
          <p:cNvPr id="51" name="Shape 49"/>
          <p:cNvSpPr/>
          <p:nvPr/>
        </p:nvSpPr>
        <p:spPr>
          <a:xfrm>
            <a:off x="669035" y="6701952"/>
            <a:ext cx="16916400" cy="9525"/>
          </a:xfrm>
          <a:prstGeom prst="rect">
            <a:avLst/>
          </a:prstGeom>
          <a:solidFill>
            <a:srgbClr val="E4E9F2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97609" y="6976550"/>
            <a:ext cx="2304000" cy="468000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  <a:effectLst>
            <a:outerShdw blurRad="76200" dist="28575" dir="5400000" algn="bl" rotWithShape="0">
              <a:srgbClr val="0F6FDE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64285" y="7044290"/>
            <a:ext cx="2170649" cy="37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TO-BE 개선</a:t>
            </a:r>
          </a:p>
        </p:txBody>
      </p:sp>
      <p:sp>
        <p:nvSpPr>
          <p:cNvPr id="54" name="Text 52"/>
          <p:cNvSpPr/>
          <p:nvPr/>
        </p:nvSpPr>
        <p:spPr>
          <a:xfrm>
            <a:off x="3277833" y="7044290"/>
            <a:ext cx="11809126" cy="337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2800" dirty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수집 계층은 자동화로 '대체', 지식·에이전트·종합 계층의 암묵지·다관점 </a:t>
            </a:r>
            <a:r>
              <a:rPr lang="en-US" sz="280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판단은 </a:t>
            </a:r>
            <a:r>
              <a:rPr lang="en-US" altLang="ko-KR" sz="280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2800" smtClean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고도화</a:t>
            </a:r>
            <a:r>
              <a:rPr lang="en-US" sz="2800" smtClean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 </a:t>
            </a:r>
            <a:r>
              <a:rPr lang="en-US" sz="2800" dirty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— 최종 판단은 사람</a:t>
            </a:r>
            <a:endParaRPr lang="en-US" sz="28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72827" y="7850547"/>
            <a:ext cx="3215580" cy="1152000"/>
          </a:xfrm>
          <a:prstGeom prst="roundRect">
            <a:avLst>
              <a:gd name="adj" fmla="val 15152"/>
            </a:avLst>
          </a:prstGeom>
          <a:solidFill>
            <a:srgbClr val="EAF2FD"/>
          </a:solidFill>
          <a:ln/>
          <a:effectLst>
            <a:outerShdw blurRad="114300" dist="38100" dir="5400000" algn="bl" rotWithShape="0">
              <a:srgbClr val="0F6FDE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63327" y="8021997"/>
            <a:ext cx="311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정보 수집 계층</a:t>
            </a:r>
            <a:r>
              <a:rPr lang="en-US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63327" y="8393007"/>
            <a:ext cx="291961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5개 기본축 정보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수집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</a:p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크롤링·중복제거·1차 선별</a:t>
            </a:r>
          </a:p>
        </p:txBody>
      </p:sp>
      <p:sp>
        <p:nvSpPr>
          <p:cNvPr id="66" name="Shape 64"/>
          <p:cNvSpPr/>
          <p:nvPr/>
        </p:nvSpPr>
        <p:spPr>
          <a:xfrm>
            <a:off x="4197957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DCE6FA"/>
          </a:solidFill>
          <a:ln/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388457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지식 계층</a:t>
            </a:r>
            <a:r>
              <a:rPr lang="en-US" altLang="ko-KR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388457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정보의 채택/기각 요인, 판단근거 등 암묵지를 구조화하여 기록</a:t>
            </a:r>
          </a:p>
        </p:txBody>
      </p:sp>
      <p:sp>
        <p:nvSpPr>
          <p:cNvPr id="71" name="Shape 69"/>
          <p:cNvSpPr/>
          <p:nvPr/>
        </p:nvSpPr>
        <p:spPr>
          <a:xfrm>
            <a:off x="7623162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EAF2FD"/>
          </a:solidFill>
          <a:ln/>
          <a:effectLst>
            <a:outerShdw blurRad="114300" dist="38100" dir="5400000" algn="bl" rotWithShape="0">
              <a:srgbClr val="0F6FDE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7813662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에이전트 계층</a:t>
            </a:r>
            <a:r>
              <a:rPr lang="en-US" altLang="ko-KR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813662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1600" dirty="0" err="1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다양한</a:t>
            </a:r>
            <a:r>
              <a:rPr lang="en-US" sz="1600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관점에서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시사점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도출</a:t>
            </a:r>
            <a:endParaRPr lang="en-US" sz="1600" dirty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(관점 충돌 시 사람이 판단)</a:t>
            </a:r>
          </a:p>
        </p:txBody>
      </p:sp>
      <p:sp>
        <p:nvSpPr>
          <p:cNvPr id="76" name="Shape 74"/>
          <p:cNvSpPr/>
          <p:nvPr/>
        </p:nvSpPr>
        <p:spPr>
          <a:xfrm>
            <a:off x="11048367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DCE6FA"/>
          </a:solidFill>
          <a:ln/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1238867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종합·판단 계층</a:t>
            </a:r>
            <a:r>
              <a:rPr lang="en-US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1238867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lnSpc>
                <a:spcPct val="126875"/>
              </a:lnSpc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사람이 최종 판단 채택/기각 표시</a:t>
            </a:r>
          </a:p>
        </p:txBody>
      </p:sp>
      <p:sp>
        <p:nvSpPr>
          <p:cNvPr id="81" name="Shape 79"/>
          <p:cNvSpPr/>
          <p:nvPr/>
        </p:nvSpPr>
        <p:spPr>
          <a:xfrm>
            <a:off x="14473572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14664072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학습 계층</a:t>
            </a:r>
            <a:r>
              <a:rPr lang="en-US" altLang="ko-KR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/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4664072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사례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축적·평가기준·프롬프트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개선</a:t>
            </a:r>
            <a:endParaRPr lang="en-US" sz="1600" dirty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(피드백 루프)</a:t>
            </a:r>
          </a:p>
        </p:txBody>
      </p:sp>
      <p:cxnSp>
        <p:nvCxnSpPr>
          <p:cNvPr id="87" name="꺾인 연결선 86"/>
          <p:cNvCxnSpPr>
            <a:stCxn id="81" idx="2"/>
            <a:endCxn id="76" idx="2"/>
          </p:cNvCxnSpPr>
          <p:nvPr/>
        </p:nvCxnSpPr>
        <p:spPr>
          <a:xfrm rot="5400000">
            <a:off x="14368798" y="7289945"/>
            <a:ext cx="12700" cy="3425205"/>
          </a:xfrm>
          <a:prstGeom prst="bentConnector3">
            <a:avLst>
              <a:gd name="adj1" fmla="val 3720000"/>
            </a:avLst>
          </a:prstGeom>
          <a:ln w="50800">
            <a:solidFill>
              <a:srgbClr val="3446AE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81" idx="2"/>
            <a:endCxn id="66" idx="2"/>
          </p:cNvCxnSpPr>
          <p:nvPr/>
        </p:nvCxnSpPr>
        <p:spPr>
          <a:xfrm rot="5400000">
            <a:off x="10943593" y="3864740"/>
            <a:ext cx="12700" cy="10275615"/>
          </a:xfrm>
          <a:prstGeom prst="bentConnector3">
            <a:avLst>
              <a:gd name="adj1" fmla="val 3685717"/>
            </a:avLst>
          </a:prstGeom>
          <a:ln w="50800">
            <a:solidFill>
              <a:srgbClr val="3446AE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85799" y="2226087"/>
            <a:ext cx="5976000" cy="540000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  <a:effectLst>
            <a:outerShdw blurRad="76200" dist="28575" dir="5400000" algn="bl" rotWithShape="0">
              <a:srgbClr val="0F6FDE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4375" y="2226087"/>
            <a:ext cx="5895975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 다관점 AI 에이전트 (4</a:t>
            </a:r>
            <a:r>
              <a:rPr lang="en-US" sz="2400" kern="0" spc="26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개 </a:t>
            </a:r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관점)</a:t>
            </a:r>
            <a:endParaRPr lang="en-US" sz="2400" kern="0" spc="26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275" y="2975543"/>
            <a:ext cx="1676400" cy="1008000"/>
          </a:xfrm>
          <a:prstGeom prst="roundRect">
            <a:avLst>
              <a:gd name="adj" fmla="val 11558"/>
            </a:avLst>
          </a:prstGeom>
          <a:gradFill rotWithShape="1">
            <a:gsLst>
              <a:gs pos="0">
                <a:srgbClr val="1B3EC2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4200000" scaled="0"/>
          </a:gradFill>
          <a:ln/>
          <a:effectLst>
            <a:outerShdw blurRad="152400" dist="57150" dir="5400000" algn="bl" rotWithShape="0">
              <a:srgbClr val="0F6FDE">
                <a:alpha val="40000"/>
              </a:srgbClr>
            </a:outerShdw>
          </a:effectLst>
        </p:spPr>
        <p:txBody>
          <a:bodyPr/>
          <a:p/>
        </p:txBody>
      </p:sp>
      <p:grpSp>
        <p:nvGrpSpPr>
          <p:cNvPr id="61" name="그룹 60"/>
          <p:cNvGrpSpPr/>
          <p:nvPr/>
        </p:nvGrpSpPr>
        <p:grpSpPr>
          <a:xfrm>
            <a:off x="676275" y="2975542"/>
            <a:ext cx="8518103" cy="4285656"/>
            <a:chOff x="685800" y="2505074"/>
            <a:chExt cx="8518103" cy="4995864"/>
          </a:xfrm>
        </p:grpSpPr>
        <p:sp>
          <p:nvSpPr>
            <p:cNvPr id="9" name="Text 7"/>
            <p:cNvSpPr/>
            <p:nvPr/>
          </p:nvSpPr>
          <p:spPr>
            <a:xfrm>
              <a:off x="723900" y="2581275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상품/서비스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495550" y="2505074"/>
              <a:ext cx="6708353" cy="1175043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2505075" y="2505075"/>
              <a:ext cx="6671479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외부 변화가 우리가 제공하는 상품/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서비스의</a:t>
              </a:r>
              <a:endParaRPr lang="en-US" sz="2400" dirty="0" smtClean="0">
                <a:solidFill>
                  <a:srgbClr val="4B5566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endParaRPr>
            </a:p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본질과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라인업에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미치는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영향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85800" y="3773090"/>
              <a:ext cx="1676400" cy="1175043"/>
            </a:xfrm>
            <a:prstGeom prst="roundRect">
              <a:avLst>
                <a:gd name="adj" fmla="val 11558"/>
              </a:avLst>
            </a:prstGeom>
            <a:gradFill rotWithShape="1">
              <a:gsLst>
                <a:gs pos="0">
                  <a:srgbClr val="1B3EC2">
                    <a:alpha val="100000"/>
                  </a:srgbClr>
                </a:gs>
                <a:gs pos="100000">
                  <a:srgbClr val="0F6FDE">
                    <a:alpha val="100000"/>
                  </a:srgbClr>
                </a:gs>
              </a:gsLst>
              <a:lin ang="4200000" scaled="0"/>
            </a:gradFill>
            <a:ln/>
            <a:effectLst>
              <a:outerShdw blurRad="152400" dist="57150" dir="5400000" algn="bl" rotWithShape="0">
                <a:srgbClr val="0F6FDE">
                  <a:alpha val="40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723900" y="3849291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영업/채널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495550" y="3773091"/>
              <a:ext cx="6708353" cy="1153716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623524" y="3773091"/>
              <a:ext cx="6452404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외부 변화가 영업 기회와 매출에 미치는 영향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85800" y="5041105"/>
              <a:ext cx="1676400" cy="1175043"/>
            </a:xfrm>
            <a:prstGeom prst="roundRect">
              <a:avLst>
                <a:gd name="adj" fmla="val 11558"/>
              </a:avLst>
            </a:prstGeom>
            <a:gradFill rotWithShape="1">
              <a:gsLst>
                <a:gs pos="0">
                  <a:srgbClr val="1B3EC2">
                    <a:alpha val="100000"/>
                  </a:srgbClr>
                </a:gs>
                <a:gs pos="100000">
                  <a:srgbClr val="0F6FDE">
                    <a:alpha val="100000"/>
                  </a:srgbClr>
                </a:gs>
              </a:gsLst>
              <a:lin ang="4200000" scaled="0"/>
            </a:gradFill>
            <a:ln/>
            <a:effectLst>
              <a:outerShdw blurRad="152400" dist="57150" dir="5400000" algn="bl" rotWithShape="0">
                <a:srgbClr val="0F6FDE">
                  <a:alpha val="40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723900" y="5117306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기술/인프라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2495550" y="5041106"/>
              <a:ext cx="6708353" cy="1153716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19" name="Text 17"/>
            <p:cNvSpPr/>
            <p:nvPr/>
          </p:nvSpPr>
          <p:spPr>
            <a:xfrm>
              <a:off x="2623524" y="5041106"/>
              <a:ext cx="6452404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외부 변화를 뒷받침하거나 대응하기 </a:t>
              </a:r>
              <a:r>
                <a:rPr lang="en-US" sz="2400" dirty="0" err="1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위한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endParaRPr lang="en-US" sz="2400" dirty="0" smtClean="0">
                <a:solidFill>
                  <a:srgbClr val="4B5566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내부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기술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역량과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시스템의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영향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85800" y="6309121"/>
              <a:ext cx="1676400" cy="1175043"/>
            </a:xfrm>
            <a:prstGeom prst="roundRect">
              <a:avLst>
                <a:gd name="adj" fmla="val 11558"/>
              </a:avLst>
            </a:prstGeom>
            <a:gradFill rotWithShape="1">
              <a:gsLst>
                <a:gs pos="0">
                  <a:srgbClr val="1B3EC2">
                    <a:alpha val="100000"/>
                  </a:srgbClr>
                </a:gs>
                <a:gs pos="100000">
                  <a:srgbClr val="0F6FDE">
                    <a:alpha val="100000"/>
                  </a:srgbClr>
                </a:gs>
              </a:gsLst>
              <a:lin ang="4200000" scaled="0"/>
            </a:gradFill>
            <a:ln/>
            <a:effectLst>
              <a:outerShdw blurRad="152400" dist="57150" dir="5400000" algn="bl" rotWithShape="0">
                <a:srgbClr val="0F6FDE">
                  <a:alpha val="40000"/>
                </a:srgbClr>
              </a:outerShdw>
            </a:effectLst>
          </p:spPr>
        </p:sp>
        <p:sp>
          <p:nvSpPr>
            <p:cNvPr id="21" name="Text 19"/>
            <p:cNvSpPr/>
            <p:nvPr/>
          </p:nvSpPr>
          <p:spPr>
            <a:xfrm>
              <a:off x="723900" y="6385322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마케팅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495550" y="6328173"/>
              <a:ext cx="6708353" cy="1153716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2623524" y="6309122"/>
              <a:ext cx="6452404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상품 메시징 및 포지셔닝, 마케팅 캠페인 등 </a:t>
              </a:r>
              <a:endParaRPr lang="en-US" sz="2400" dirty="0" smtClean="0">
                <a:solidFill>
                  <a:srgbClr val="4B5566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endParaRPr>
            </a:p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인사이트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도출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</p:grpSp>
      <p:sp>
        <p:nvSpPr>
          <p:cNvPr id="24" name="Shape 22"/>
          <p:cNvSpPr/>
          <p:nvPr/>
        </p:nvSpPr>
        <p:spPr>
          <a:xfrm>
            <a:off x="9489652" y="2226087"/>
            <a:ext cx="6156000" cy="54000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  <a:effectLst>
            <a:outerShdw blurRad="76200" dist="28575" dir="5400000" algn="bl" rotWithShape="0">
              <a:srgbClr val="1428A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489653" y="2226087"/>
            <a:ext cx="6186032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② </a:t>
            </a:r>
            <a:r>
              <a:rPr lang="en-US" sz="2400" kern="0" spc="26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암묵지 </a:t>
            </a:r>
            <a:r>
              <a:rPr lang="ko-KR" alt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자산</a:t>
            </a:r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화  </a:t>
            </a:r>
            <a:endParaRPr lang="en-US" sz="2400" kern="0" spc="26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89653" y="2972311"/>
            <a:ext cx="8112547" cy="4288887"/>
          </a:xfrm>
          <a:prstGeom prst="roundRect">
            <a:avLst>
              <a:gd name="adj" fmla="val 3458"/>
            </a:avLst>
          </a:prstGeom>
          <a:solidFill>
            <a:srgbClr val="E4EAF9"/>
          </a:solidFill>
          <a:ln/>
          <a:effectLst>
            <a:outerShdw blurRad="133350" dist="38100" dir="5400000" algn="bl" rotWithShape="0">
              <a:srgbClr val="1428A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004110" y="3262643"/>
            <a:ext cx="45719" cy="3613547"/>
          </a:xfrm>
          <a:prstGeom prst="rect">
            <a:avLst/>
          </a:prstGeom>
          <a:solidFill>
            <a:srgbClr val="B7C6EC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836469" y="3262643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798369" y="326264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1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73079" y="3288430"/>
            <a:ext cx="4664853" cy="32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결론(무엇을) 아닌 근거(왜)를 코드화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36469" y="4340158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798369" y="434015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2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423210" y="4343417"/>
            <a:ext cx="352826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근거 우선 표준 양식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836469" y="5417674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798369" y="5417674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3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461202" y="5428314"/>
            <a:ext cx="3818819" cy="42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구체 사례 인터뷰로 추출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836469" y="6495190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798369" y="649519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4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445315" y="6520947"/>
            <a:ext cx="3818818" cy="435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채택/기각 기록 = 학습 데이터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85800" y="7547060"/>
            <a:ext cx="2734056" cy="540000"/>
          </a:xfrm>
          <a:prstGeom prst="roundRect">
            <a:avLst>
              <a:gd name="adj" fmla="val 50000"/>
            </a:avLst>
          </a:prstGeom>
          <a:solidFill>
            <a:srgbClr val="12203A"/>
          </a:solidFill>
          <a:ln/>
          <a:effectLst>
            <a:outerShdw blurRad="76200" dist="28575" dir="5400000" algn="bl" rotWithShape="0">
              <a:srgbClr val="12203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14375" y="7560604"/>
            <a:ext cx="2705481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③ 추진 계획</a:t>
            </a:r>
          </a:p>
        </p:txBody>
      </p:sp>
      <p:sp>
        <p:nvSpPr>
          <p:cNvPr id="42" name="Shape 40"/>
          <p:cNvSpPr/>
          <p:nvPr/>
        </p:nvSpPr>
        <p:spPr>
          <a:xfrm>
            <a:off x="685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blurRad="171450" dist="57150" dir="5400000" algn="bl" rotWithShape="0">
              <a:srgbClr val="12203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85800" y="8220075"/>
            <a:ext cx="5486400" cy="471488"/>
          </a:xfrm>
          <a:prstGeom prst="rect">
            <a:avLst/>
          </a:prstGeom>
          <a:solidFill>
            <a:srgbClr val="0F6FDE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78545" y="8275878"/>
            <a:ext cx="5231892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[8월]  기준 </a:t>
            </a:r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정의·사례 정리·수집 자동화</a:t>
            </a:r>
          </a:p>
        </p:txBody>
      </p:sp>
      <p:sp>
        <p:nvSpPr>
          <p:cNvPr id="45" name="Shape 43"/>
          <p:cNvSpPr/>
          <p:nvPr/>
        </p:nvSpPr>
        <p:spPr>
          <a:xfrm>
            <a:off x="685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86064" y="8882063"/>
            <a:ext cx="545030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범위·선별 기준·에이전트 관점(역할) </a:t>
            </a:r>
            <a:r>
              <a:rPr lang="en-US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정의 </a:t>
            </a:r>
            <a:endParaRPr lang="en-US" dirty="0" smtClean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  →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핵심 사례 20~30건 정리·저장 • 수집 자동화 시범 구축</a:t>
            </a:r>
          </a:p>
        </p:txBody>
      </p:sp>
      <p:sp>
        <p:nvSpPr>
          <p:cNvPr id="47" name="Shape 45"/>
          <p:cNvSpPr/>
          <p:nvPr/>
        </p:nvSpPr>
        <p:spPr>
          <a:xfrm>
            <a:off x="6400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blurRad="171450" dist="57150" dir="5400000" algn="bl" rotWithShape="0">
              <a:srgbClr val="1428A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400800" y="8220075"/>
            <a:ext cx="5486400" cy="471488"/>
          </a:xfrm>
          <a:prstGeom prst="rect">
            <a:avLst/>
          </a:prstGeom>
          <a:solidFill>
            <a:srgbClr val="1428A0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546348" y="8273583"/>
            <a:ext cx="5231892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[9월]  에이전트 </a:t>
            </a:r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시범 구축</a:t>
            </a:r>
          </a:p>
        </p:txBody>
      </p:sp>
      <p:sp>
        <p:nvSpPr>
          <p:cNvPr id="50" name="Shape 48"/>
          <p:cNvSpPr/>
          <p:nvPr/>
        </p:nvSpPr>
        <p:spPr>
          <a:xfrm>
            <a:off x="6400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517106" y="8882063"/>
            <a:ext cx="534134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4개 관점 에이전트 시제품 구축 • 과거 리포트로 성능 </a:t>
            </a:r>
            <a:r>
              <a:rPr lang="en-US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검증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endParaRPr lang="en-US" dirty="0" smtClean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>
              <a:lnSpc>
                <a:spcPct val="126875"/>
              </a:lnSpc>
            </a:pP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관점 충돌·확신도 표시 화면 설계</a:t>
            </a:r>
          </a:p>
        </p:txBody>
      </p:sp>
      <p:sp>
        <p:nvSpPr>
          <p:cNvPr id="52" name="Shape 50"/>
          <p:cNvSpPr/>
          <p:nvPr/>
        </p:nvSpPr>
        <p:spPr>
          <a:xfrm>
            <a:off x="12115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blurRad="171450" dist="57150" dir="5400000" algn="bl" rotWithShape="0">
              <a:srgbClr val="12203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2115800" y="8220075"/>
            <a:ext cx="5486400" cy="471488"/>
          </a:xfrm>
          <a:prstGeom prst="rect">
            <a:avLst/>
          </a:prstGeom>
          <a:solidFill>
            <a:srgbClr val="12203A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2246037" y="8273583"/>
            <a:ext cx="5231892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[9/18]  시범운영</a:t>
            </a:r>
            <a:endParaRPr lang="en-US" sz="2400" kern="0" spc="26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2115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2216064" y="8882063"/>
            <a:ext cx="545030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1~2회 실제 발행 사이클에 </a:t>
            </a:r>
            <a:r>
              <a:rPr lang="en-US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병행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err="1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적용</a:t>
            </a: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채택/기각 </a:t>
            </a:r>
            <a:r>
              <a:rPr lang="en-US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기록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err="1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운영</a:t>
            </a:r>
            <a:endParaRPr lang="en-US" dirty="0" smtClean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 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→ 학습 데이터 확보 • ※ 이후 정식운영·개선 확장(4단계)</a:t>
            </a:r>
          </a:p>
        </p:txBody>
      </p:sp>
      <p:sp>
        <p:nvSpPr>
          <p:cNvPr id="57" name="Text 0"/>
          <p:cNvSpPr/>
          <p:nvPr/>
        </p:nvSpPr>
        <p:spPr>
          <a:xfrm>
            <a:off x="676275" y="221457"/>
            <a:ext cx="173631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sz="4800" b="1" kern="0" spc="-34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To-Be </a:t>
            </a:r>
            <a:r>
              <a:rPr lang="en-US" altLang="ko-KR" sz="4800" b="1" kern="0" spc="-34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실행</a:t>
            </a:r>
            <a:r>
              <a:rPr lang="en-US" altLang="ko-KR" sz="4800" b="1" kern="0" spc="-34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altLang="ko-KR" sz="4800" b="1" kern="0" spc="-34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설계</a:t>
            </a:r>
            <a:r>
              <a:rPr lang="en-US" altLang="ko-KR" sz="4800" b="1" kern="0" spc="-34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endParaRPr lang="en-US" altLang="ko-KR" sz="4800" b="1" kern="0" spc="-34" dirty="0">
              <a:gradFill flip="none" rotWithShape="1"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685800" y="1243013"/>
            <a:ext cx="16916400" cy="704850"/>
          </a:xfrm>
          <a:prstGeom prst="roundRect">
            <a:avLst>
              <a:gd name="adj" fmla="val 21622"/>
            </a:avLst>
          </a:prstGeom>
          <a:gradFill rotWithShape="1">
            <a:gsLst>
              <a:gs pos="0">
                <a:srgbClr val="0B1F63">
                  <a:alpha val="100000"/>
                </a:srgbClr>
              </a:gs>
              <a:gs pos="60000">
                <a:srgbClr val="1428A0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2700000" scaled="0"/>
          </a:gradFill>
          <a:ln/>
          <a:effectLst>
            <a:outerShdw blurRad="228600" dist="95250" dir="5400000" algn="bl" rotWithShape="0">
              <a:srgbClr val="1428A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9" name="Shape 2"/>
          <p:cNvSpPr/>
          <p:nvPr/>
        </p:nvSpPr>
        <p:spPr>
          <a:xfrm>
            <a:off x="952500" y="1433513"/>
            <a:ext cx="66675" cy="323850"/>
          </a:xfrm>
          <a:prstGeom prst="roundRect">
            <a:avLst>
              <a:gd name="adj" fmla="val 50000"/>
            </a:avLst>
          </a:prstGeom>
          <a:solidFill>
            <a:srgbClr val="8FD3FF"/>
          </a:solidFill>
          <a:ln/>
        </p:spPr>
        <p:txBody>
          <a:bodyPr/>
          <a:p/>
        </p:txBody>
      </p:sp>
      <p:sp>
        <p:nvSpPr>
          <p:cNvPr id="60" name="Text 3"/>
          <p:cNvSpPr/>
          <p:nvPr/>
        </p:nvSpPr>
        <p:spPr>
          <a:xfrm>
            <a:off x="1092652" y="1334795"/>
            <a:ext cx="15661853" cy="60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ko-KR" altLang="en-US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차별화는</a:t>
            </a:r>
            <a:r>
              <a:rPr lang="en-US" altLang="ko-KR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3200" b="1" dirty="0" err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다관점</a:t>
            </a:r>
            <a:r>
              <a:rPr lang="ko-KR" altLang="en-US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ko-KR" altLang="en-US" sz="3200" b="1" dirty="0" smtClean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에이전트</a:t>
            </a:r>
            <a:r>
              <a:rPr lang="en-US" altLang="ko-KR" sz="3200" b="1" dirty="0" smtClean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 </a:t>
            </a:r>
            <a:r>
              <a:rPr lang="ko-KR" altLang="en-US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와 </a:t>
            </a:r>
            <a:r>
              <a:rPr lang="en-US" altLang="ko-KR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3200" b="1" err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암묵지</a:t>
            </a:r>
            <a:r>
              <a:rPr lang="ko-KR" altLang="en-US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자산화</a:t>
            </a:r>
            <a:r>
              <a:rPr lang="en-US" altLang="ko-KR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en-US" altLang="ko-KR" sz="3200" b="1" dirty="0" smtClean="0">
                <a:solidFill>
                  <a:srgbClr val="BFD4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ko-KR" altLang="en-US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에서 나온다</a:t>
            </a:r>
            <a:r>
              <a:rPr lang="en-US" altLang="ko-KR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.</a:t>
            </a:r>
            <a:endParaRPr lang="en-US" sz="32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566</Words>
  <Application>Microsoft Office PowerPoint</Application>
  <PresentationFormat>사용자 지정</PresentationFormat>
  <Paragraphs>86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SamsungOneKorean 500</vt:lpstr>
      <vt:lpstr>맑은 고딕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에스원</cp:lastModifiedBy>
  <cp:revision>16</cp:revision>
  <cp:lastPrinted>2026-07-24T03:27:46Z</cp:lastPrinted>
  <dcterms:created xsi:type="dcterms:W3CDTF">2026-07-23T09:53:29Z</dcterms:created>
  <dcterms:modified xsi:type="dcterms:W3CDTF">2026-07-24T03:56:38Z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