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4"/>
  </p:normalViewPr>
  <p:slideViewPr>
    <p:cSldViewPr snapToGrid="0" snapToObjects="1">
      <p:cViewPr varScale="1">
        <p:scale>
          <a:sx n="105" d="100"/>
          <a:sy n="105" d="100"/>
        </p:scale>
        <p:origin x="19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마켓센싱 리포트 AI 전환 : As-Is →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226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정형·반복 업무는 '대체', 암묵지 기반 판단은 '증폭' — 다관점 AI 에이전트 · 5계층 구조로 재설계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11183112" cy="384048"/>
          </a:xfrm>
          <a:prstGeom prst="roundRect">
            <a:avLst/>
          </a:prstGeom>
          <a:solidFill>
            <a:srgbClr val="E7F0EE"/>
          </a:solidFill>
          <a:ln w="15875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★ 리포트의 진짜 가치는 뉴스 나열이 아니라, 오래 근무한 내부 직원의 '암묵지' 기반 해석에서 나온다 — 이 암묵지의 속인화(屬人化)가 최대 리스크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234440" cy="274320"/>
          </a:xfrm>
          <a:prstGeom prst="roundRect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AS-IS  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490472"/>
            <a:ext cx="8961120" cy="177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수집·정리·정형화·분석을 사람이 수작업 반복 · 인사이트가 베테랑 개인에 의존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① 정보수집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5개 기본축
수동 소싱</a:t>
            </a:r>
          </a:p>
        </p:txBody>
      </p:sp>
      <p:sp>
        <p:nvSpPr>
          <p:cNvPr id="9" name="Chevron 8"/>
          <p:cNvSpPr/>
          <p:nvPr/>
        </p:nvSpPr>
        <p:spPr>
          <a:xfrm>
            <a:off x="2240279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386584" y="1847088"/>
            <a:ext cx="1755648" cy="731520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7A381C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★ ② 주제 선정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선택 우선순위 판단
(무엇을·왜 뽑나)</a:t>
            </a:r>
          </a:p>
        </p:txBody>
      </p:sp>
      <p:sp>
        <p:nvSpPr>
          <p:cNvPr id="11" name="Chevron 10"/>
          <p:cNvSpPr/>
          <p:nvPr/>
        </p:nvSpPr>
        <p:spPr>
          <a:xfrm>
            <a:off x="4123944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70248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③ 정리·정형화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기사별 요약·번역·
용어 수작업</a:t>
            </a:r>
          </a:p>
        </p:txBody>
      </p:sp>
      <p:sp>
        <p:nvSpPr>
          <p:cNvPr id="13" name="Chevron 12"/>
          <p:cNvSpPr/>
          <p:nvPr/>
        </p:nvSpPr>
        <p:spPr>
          <a:xfrm>
            <a:off x="6007608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53912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④ 통계·시각화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수치 보완·
표/이미지 제작</a:t>
            </a:r>
          </a:p>
        </p:txBody>
      </p:sp>
      <p:sp>
        <p:nvSpPr>
          <p:cNvPr id="15" name="Chevron 14"/>
          <p:cNvSpPr/>
          <p:nvPr/>
        </p:nvSpPr>
        <p:spPr>
          <a:xfrm>
            <a:off x="7891271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37576" y="1847088"/>
            <a:ext cx="1755648" cy="731520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7A381C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★ ⑤ 인사이트 도출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베테랑 암묵지
개인 의존</a:t>
            </a:r>
          </a:p>
        </p:txBody>
      </p:sp>
      <p:sp>
        <p:nvSpPr>
          <p:cNvPr id="17" name="Chevron 16"/>
          <p:cNvSpPr/>
          <p:nvPr/>
        </p:nvSpPr>
        <p:spPr>
          <a:xfrm>
            <a:off x="9774936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921240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⑥ 리포트 작성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취합·편집·
발송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688336"/>
            <a:ext cx="5522975" cy="512064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▲ 시간 병목 · 반복업무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①·③·④ 수집·정리·시각화 반복작업에 분석가 시간이 과다 소모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1" y="2688336"/>
            <a:ext cx="5522975" cy="512064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B4532A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★ 암묵지·품질 병목 · 속인화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A381C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② 주제 선정 = '선택 우선순위'(왜 뽑나 = 인사이트) · ⑤ 인사이트 도출 → 편차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55264"/>
            <a:ext cx="6858000" cy="169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① 정보수집 — 5개 기본축 (수동 소싱)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❶ 커뮤니케이션팀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신문스크랩·일일 발송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5145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❷ 사업부 시장동향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'오늘의 시장동향'·일일 발송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7371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❸ 정기보고서·전시회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보고서 20건·전시회 4건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❹ 검색어 기반 검색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57종(경쟁사10·글로벌10·업계37)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1822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❺ 마케팅·사회 트렌드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나스미디어 등 광고사 뉴스레터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931920"/>
            <a:ext cx="2377440" cy="384048"/>
          </a:xfrm>
          <a:prstGeom prst="roundRect">
            <a:avLst/>
          </a:prstGeom>
          <a:solidFill>
            <a:srgbClr val="F7EAE3"/>
          </a:solidFill>
          <a:ln w="9525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7A381C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★ ② 선택 우선순위 (암묵지)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A381C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무엇을·왜 뽑나 = 인사이트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90088" y="3931920"/>
            <a:ext cx="8695944" cy="384048"/>
          </a:xfrm>
          <a:prstGeom prst="roundRect">
            <a:avLst/>
          </a:prstGeom>
          <a:solidFill>
            <a:srgbClr val="FCF8F5"/>
          </a:solidFill>
          <a:ln w="9525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판단 기준 ▸ 당사와의 연관성 · 향후 도입 가능 여부 · 과거 시행 여부 · 영업확대 기회(정책·시장·사회이슈)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25696"/>
            <a:ext cx="1234440" cy="29260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TO-BE  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453128"/>
            <a:ext cx="9418320" cy="193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L1 수집은 자동화로 '대체', L2~L4 암묵지·4관점 판단은 '증폭' — 최종 판단·책임은 인간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" y="4974336"/>
            <a:ext cx="1005840" cy="182880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대체 ·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175504"/>
            <a:ext cx="2084831" cy="841248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L1  수집 계층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뉴스·공시·규제·경쟁사
크롤링·중복제거·1차 선별</a:t>
            </a:r>
          </a:p>
        </p:txBody>
      </p:sp>
      <p:sp>
        <p:nvSpPr>
          <p:cNvPr id="33" name="Chevron 32"/>
          <p:cNvSpPr/>
          <p:nvPr/>
        </p:nvSpPr>
        <p:spPr>
          <a:xfrm>
            <a:off x="2578608" y="5504688"/>
            <a:ext cx="228600" cy="182880"/>
          </a:xfrm>
          <a:prstGeom prst="chevron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807208" y="4974336"/>
            <a:ext cx="1005840" cy="182880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증폭 · 핵심자산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70632" y="5175504"/>
            <a:ext cx="2084831" cy="841248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8A5A1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L2  지식 계층 ★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베테랑 암묵지 저장소
수주/실주 복기·근거 모음</a:t>
            </a:r>
          </a:p>
        </p:txBody>
      </p:sp>
      <p:sp>
        <p:nvSpPr>
          <p:cNvPr id="36" name="Chevron 35"/>
          <p:cNvSpPr/>
          <p:nvPr/>
        </p:nvSpPr>
        <p:spPr>
          <a:xfrm>
            <a:off x="4846320" y="5504688"/>
            <a:ext cx="228600" cy="182880"/>
          </a:xfrm>
          <a:prstGeom prst="chevron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74920" y="4974336"/>
            <a:ext cx="1005840" cy="182880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증폭 · 다관점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8344" y="5175504"/>
            <a:ext cx="2084831" cy="841248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L3  에이전트 계층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기획·영업·기술위협·경쟁사
4개 관점 에이전트 · 충돌=신호</a:t>
            </a:r>
          </a:p>
        </p:txBody>
      </p:sp>
      <p:sp>
        <p:nvSpPr>
          <p:cNvPr id="39" name="Chevron 38"/>
          <p:cNvSpPr/>
          <p:nvPr/>
        </p:nvSpPr>
        <p:spPr>
          <a:xfrm>
            <a:off x="7114031" y="5504688"/>
            <a:ext cx="228600" cy="182880"/>
          </a:xfrm>
          <a:prstGeom prst="chevron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342631" y="4974336"/>
            <a:ext cx="1005840" cy="182880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증폭 · 인간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6055" y="5175504"/>
            <a:ext cx="2084831" cy="841248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8A5A1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L4  종합·판단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사람이 최종 판단
채택/기각 표시</a:t>
            </a:r>
          </a:p>
        </p:txBody>
      </p:sp>
      <p:sp>
        <p:nvSpPr>
          <p:cNvPr id="42" name="Chevron 41"/>
          <p:cNvSpPr/>
          <p:nvPr/>
        </p:nvSpPr>
        <p:spPr>
          <a:xfrm>
            <a:off x="9381744" y="5504688"/>
            <a:ext cx="228600" cy="182880"/>
          </a:xfrm>
          <a:prstGeom prst="chevron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610344" y="4974336"/>
            <a:ext cx="1005840" cy="182880"/>
          </a:xfrm>
          <a:prstGeom prst="round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학습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73768" y="5175504"/>
            <a:ext cx="2084831" cy="841248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L5  학습 계층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사례 축적·평가기준·프롬프트
개선 (피드백 루프)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6126480"/>
            <a:ext cx="11155680" cy="310896"/>
          </a:xfrm>
          <a:prstGeom prst="roundRect">
            <a:avLst/>
          </a:prstGeom>
          <a:solidFill>
            <a:srgbClr val="FBFBFC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↺  피드백 루프 : L5 학습 단계의 채택/기각 사례를 '예시'로 L2·L3에 다시 반영 → 관점별 인사이트 품질 개선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81360" y="4443983"/>
            <a:ext cx="182880" cy="18288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119104" y="4453127"/>
            <a:ext cx="1188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대체(AI)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81360" y="4690871"/>
            <a:ext cx="182880" cy="182880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119104" y="4700016"/>
            <a:ext cx="1188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증폭(사람)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To-Be 실행 설계 : 다관점 AI 에이전트 · 암묵지 코드화 · 추진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차별화는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'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증폭'과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'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암묵지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코드화'에서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나온다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—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크롤러에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3을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쓰면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지식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캡처에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7을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쓰는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비대칭</a:t>
            </a:r>
            <a:r>
              <a:rPr sz="1600" b="0" dirty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sz="1600" b="0" dirty="0" err="1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투자</a:t>
            </a:r>
            <a:endParaRPr sz="1600" b="0" dirty="0">
              <a:solidFill>
                <a:srgbClr val="8A939B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83112" cy="0"/>
          </a:xfrm>
          <a:prstGeom prst="bentConnector3">
            <a:avLst/>
          </a:prstGeom>
          <a:ln w="15240">
            <a:solidFill>
              <a:srgbClr val="D5D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280160"/>
            <a:ext cx="3840480" cy="301752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① 다관점 AI 에이전트 (4개 관점, L3 계층)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7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기획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8488" y="1664207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제품·시장전략·중장기 트렌드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Q. 우리 제품/로드맵에 주는 의미는?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08276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영업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2208276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수주 기회·위협·고객 동향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Q. 딜과 고객관계에 주는 의미는?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52344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기술·위협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18488" y="2752344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보안위협·신기술·규제 파급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Q. 위협지형·기술경쟁력에 주는 의미는?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6412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경쟁사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3296412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경쟁 3사 입장에서 동향 예측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Q. 경쟁사라면 어떻게 움직일까?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623560" cy="603504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2E6E69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같은 입력도 관점마다 다르게 해석 → 관점 충돌 = 인간에 우선 노출되는 '주목 신호'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(관점이 갈릴수록 사람이 먼저 봐야 할 신호) · 최종 판단·편집·책임은 사람이 담당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280160"/>
            <a:ext cx="4206240" cy="301752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② 암묵지 코드화 (핵심 자산) — 사람의 역할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664207"/>
            <a:ext cx="5239512" cy="2615184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647688" y="1865376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890229"/>
            <a:ext cx="4462272" cy="3892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결론(무엇을) 아닌 근거(왜)를 코드화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전이되는 건 결론이 아니라 근거 — 항상 '왜'를 잡는다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6647688" y="2455164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2480017"/>
            <a:ext cx="4462272" cy="3892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근거 우선 표준 양식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관찰→판단→★근거·추론→반대고려→예외조건→결과검증→기록</a:t>
            </a:r>
          </a:p>
        </p:txBody>
      </p:sp>
      <p:sp>
        <p:nvSpPr>
          <p:cNvPr id="22" name="Oval 21"/>
          <p:cNvSpPr/>
          <p:nvPr/>
        </p:nvSpPr>
        <p:spPr>
          <a:xfrm>
            <a:off x="6647688" y="3044952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3069805"/>
            <a:ext cx="4462272" cy="3892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구체 사례 인터뷰로 추출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'왜' 3회 되묻기 · 핵심 사례 20~30건 + 업무 중 계속 축적</a:t>
            </a:r>
          </a:p>
        </p:txBody>
      </p:sp>
      <p:sp>
        <p:nvSpPr>
          <p:cNvPr id="24" name="Oval 23"/>
          <p:cNvSpPr/>
          <p:nvPr/>
        </p:nvSpPr>
        <p:spPr>
          <a:xfrm>
            <a:off x="6647688" y="3634740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3659593"/>
            <a:ext cx="4462272" cy="3892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22282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채택/기각 기록 = 학습 데이터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기록·근거를 '예시'로 학습 단계에 직접 반영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90288"/>
            <a:ext cx="4389120" cy="301752"/>
          </a:xfrm>
          <a:prstGeom prst="roundRect">
            <a:avLst/>
          </a:prstGeom>
          <a:solidFill>
            <a:srgbClr val="22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③ 추진 로드맵 — 10월 시범운영 완료 목표 (1~3단계 압축)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4736592"/>
            <a:ext cx="6446519" cy="0"/>
          </a:xfrm>
          <a:prstGeom prst="bentConnector3">
            <a:avLst/>
          </a:prstGeom>
          <a:ln w="15240">
            <a:solidFill>
              <a:srgbClr val="D5D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5065775"/>
            <a:ext cx="3520440" cy="402336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8월   1단계  기준 정의·사례 정리·수집 자동화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3816" y="5596127"/>
            <a:ext cx="3264408" cy="648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범위·선별 기준·에이전트 관점(역할) 정의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베테랑 워크숍 → 핵심 사례 20~30건 정리·저장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수집 자동화 시범 구축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5065775"/>
            <a:ext cx="3520440" cy="402336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9월   2단계  에이전트 시범 구축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35424" y="5596127"/>
            <a:ext cx="3264408" cy="648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4개 관점 에이전트 시제품 구축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과거 리포트로 성능 검증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관점 충돌·확신도 표시 화면 설계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9016" y="5065775"/>
            <a:ext cx="3520440" cy="402336"/>
          </a:xfrm>
          <a:prstGeom prst="roundRect">
            <a:avLst/>
          </a:prstGeom>
          <a:solidFill>
            <a:srgbClr val="22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10월   3단계  사람 검토형 시범운영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9016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 sz="240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7032" y="5596127"/>
            <a:ext cx="3264408" cy="648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1~2회 실제 발행 사이클에 병행 적용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4B555E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채택/기각 기록 운영 → 학습 데이터 확보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0">
                <a:solidFill>
                  <a:srgbClr val="8A939B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•  ※ 이후 정식운영·개선 확장(4단계)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725</Words>
  <Application>Microsoft Office PowerPoint</Application>
  <PresentationFormat>와이드스크린</PresentationFormat>
  <Paragraphs>98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 Variable Medium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에스원</dc:creator>
  <cp:keywords/>
  <dc:description>generated using python-pptx</dc:description>
  <cp:lastModifiedBy>에스원</cp:lastModifiedBy>
  <cp:revision>3</cp:revision>
  <dcterms:created xsi:type="dcterms:W3CDTF">2013-01-27T09:14:16Z</dcterms:created>
  <dcterms:modified xsi:type="dcterms:W3CDTF">2026-07-22T11:11:45Z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