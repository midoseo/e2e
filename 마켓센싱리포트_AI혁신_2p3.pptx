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7"/>
  </p:normalViewPr>
  <p:slideViewPr>
    <p:cSldViewPr snapToGrid="0" snapToObjects="1">
      <p:cViewPr varScale="1">
        <p:scale>
          <a:sx n="110" d="100"/>
          <a:sy n="110" d="100"/>
        </p:scale>
        <p:origin x="65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7/23/26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01168"/>
            <a:ext cx="1115568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마켓센싱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리포트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AI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전환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: As-Is → To-Be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1155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정형·반복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업무는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'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대체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',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암묵지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기반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판단은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'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증폭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' —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다관점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AI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에이전트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· 5계층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구조로</a:t>
            </a:r>
            <a:r>
              <a:rPr sz="115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  <a:r>
              <a:rPr sz="115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재설계</a:t>
            </a:r>
            <a:endParaRPr sz="1150" b="0" dirty="0">
              <a:solidFill>
                <a:srgbClr val="8A939B"/>
              </a:solidFill>
              <a:latin typeface="Noto Sans CJK KR"/>
              <a:ea typeface="Noto Sans CJK KR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502920" y="1463040"/>
            <a:ext cx="1234440" cy="274320"/>
          </a:xfrm>
          <a:prstGeom prst="roundRect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AS-IS  현행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74519" y="1490472"/>
            <a:ext cx="896112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00" b="0">
                <a:solidFill>
                  <a:srgbClr val="4B555E"/>
                </a:solidFill>
                <a:latin typeface="Noto Sans CJK KR"/>
                <a:ea typeface="Noto Sans CJK KR"/>
              </a:rPr>
              <a:t>수집·정리·정형화·분석을 사람이 수작업 반복 · 인사이트가 베테랑 개인에 의존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① 정보수집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5개 기본축
수동 소싱</a:t>
            </a:r>
          </a:p>
        </p:txBody>
      </p:sp>
      <p:sp>
        <p:nvSpPr>
          <p:cNvPr id="9" name="Chevron 8"/>
          <p:cNvSpPr/>
          <p:nvPr/>
        </p:nvSpPr>
        <p:spPr>
          <a:xfrm>
            <a:off x="2240279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386584" y="1847088"/>
            <a:ext cx="1755648" cy="731520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7A381C"/>
                </a:solidFill>
                <a:latin typeface="Noto Sans CJK KR"/>
                <a:ea typeface="Noto Sans CJK KR"/>
              </a:rPr>
              <a:t>★ ② 주제 선정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선택 우선순위 판단
(무엇을·왜 뽑나)</a:t>
            </a:r>
          </a:p>
        </p:txBody>
      </p:sp>
      <p:sp>
        <p:nvSpPr>
          <p:cNvPr id="11" name="Chevron 10"/>
          <p:cNvSpPr/>
          <p:nvPr/>
        </p:nvSpPr>
        <p:spPr>
          <a:xfrm>
            <a:off x="4123944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70248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③ 정리·정형화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기사별 요약·번역·
용어 수작업</a:t>
            </a:r>
          </a:p>
        </p:txBody>
      </p:sp>
      <p:sp>
        <p:nvSpPr>
          <p:cNvPr id="13" name="Chevron 12"/>
          <p:cNvSpPr/>
          <p:nvPr/>
        </p:nvSpPr>
        <p:spPr>
          <a:xfrm>
            <a:off x="6007608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ounded Rectangle 13"/>
          <p:cNvSpPr/>
          <p:nvPr/>
        </p:nvSpPr>
        <p:spPr>
          <a:xfrm>
            <a:off x="6153912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22282E"/>
                </a:solidFill>
                <a:latin typeface="Noto Sans CJK KR"/>
                <a:ea typeface="Noto Sans CJK KR"/>
              </a:rPr>
              <a:t>④ 통계·시각화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수치 보완·
표/이미지 제작</a:t>
            </a:r>
          </a:p>
        </p:txBody>
      </p:sp>
      <p:sp>
        <p:nvSpPr>
          <p:cNvPr id="15" name="Chevron 14"/>
          <p:cNvSpPr/>
          <p:nvPr/>
        </p:nvSpPr>
        <p:spPr>
          <a:xfrm>
            <a:off x="7891271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ounded Rectangle 15"/>
          <p:cNvSpPr/>
          <p:nvPr/>
        </p:nvSpPr>
        <p:spPr>
          <a:xfrm>
            <a:off x="8037576" y="1847088"/>
            <a:ext cx="1755648" cy="731520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>
                <a:solidFill>
                  <a:srgbClr val="7A381C"/>
                </a:solidFill>
                <a:latin typeface="Noto Sans CJK KR"/>
                <a:ea typeface="Noto Sans CJK KR"/>
              </a:rPr>
              <a:t>★ ⑤ 인사이트 도출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베테랑 암묵지
개인 의존</a:t>
            </a:r>
          </a:p>
        </p:txBody>
      </p:sp>
      <p:sp>
        <p:nvSpPr>
          <p:cNvPr id="17" name="Chevron 16"/>
          <p:cNvSpPr/>
          <p:nvPr/>
        </p:nvSpPr>
        <p:spPr>
          <a:xfrm>
            <a:off x="9774936" y="2121408"/>
            <a:ext cx="182880" cy="182880"/>
          </a:xfrm>
          <a:prstGeom prst="chevron">
            <a:avLst/>
          </a:prstGeom>
          <a:solidFill>
            <a:srgbClr val="C3C9C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9921240" y="1847088"/>
            <a:ext cx="1755648" cy="731520"/>
          </a:xfrm>
          <a:prstGeom prst="roundRect">
            <a:avLst/>
          </a:prstGeom>
          <a:solidFill>
            <a:srgbClr val="ECEEF0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100" b="1" dirty="0">
                <a:solidFill>
                  <a:srgbClr val="22282E"/>
                </a:solidFill>
                <a:latin typeface="Noto Sans CJK KR"/>
                <a:ea typeface="Noto Sans CJK KR"/>
              </a:rPr>
              <a:t>⑥ </a:t>
            </a:r>
            <a:r>
              <a:rPr sz="1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리포트</a:t>
            </a:r>
            <a:r>
              <a:rPr sz="110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작성</a:t>
            </a:r>
            <a:endParaRPr sz="1100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dirty="0" err="1">
                <a:solidFill>
                  <a:srgbClr val="4B555E"/>
                </a:solidFill>
                <a:latin typeface="Noto Sans CJK KR"/>
                <a:ea typeface="Noto Sans CJK KR"/>
              </a:rPr>
              <a:t>취합·편집·발송</a:t>
            </a:r>
            <a:endParaRPr sz="85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502920" y="2688336"/>
            <a:ext cx="5522975" cy="512064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>
                <a:solidFill>
                  <a:srgbClr val="4B555E"/>
                </a:solidFill>
                <a:latin typeface="Noto Sans CJK KR"/>
                <a:ea typeface="Noto Sans CJK KR"/>
              </a:rPr>
              <a:t>▲ 시간 병목 · 반복업무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900" b="0">
                <a:solidFill>
                  <a:srgbClr val="4B555E"/>
                </a:solidFill>
                <a:latin typeface="Noto Sans CJK KR"/>
                <a:ea typeface="Noto Sans CJK KR"/>
              </a:rPr>
              <a:t>①·③·④ 수집·정리·시각화 반복작업에 분석가 시간이 과다 소모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3911" y="2688336"/>
            <a:ext cx="5522975" cy="512064"/>
          </a:xfrm>
          <a:prstGeom prst="roundRect">
            <a:avLst/>
          </a:prstGeom>
          <a:solidFill>
            <a:srgbClr val="F7EAE3"/>
          </a:solidFill>
          <a:ln w="12700">
            <a:solidFill>
              <a:srgbClr val="B453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50" b="1" dirty="0">
                <a:solidFill>
                  <a:srgbClr val="B4532A"/>
                </a:solidFill>
                <a:latin typeface="Noto Sans CJK KR"/>
                <a:ea typeface="Noto Sans CJK KR"/>
              </a:rPr>
              <a:t>★ </a:t>
            </a:r>
            <a:r>
              <a:rPr sz="950" b="1" dirty="0" err="1">
                <a:solidFill>
                  <a:srgbClr val="B4532A"/>
                </a:solidFill>
                <a:latin typeface="Noto Sans CJK KR"/>
                <a:ea typeface="Noto Sans CJK KR"/>
              </a:rPr>
              <a:t>암묵지·품질</a:t>
            </a:r>
            <a:r>
              <a:rPr sz="950" b="1" dirty="0">
                <a:solidFill>
                  <a:srgbClr val="B4532A"/>
                </a:solidFill>
                <a:latin typeface="Noto Sans CJK KR"/>
                <a:ea typeface="Noto Sans CJK KR"/>
              </a:rPr>
              <a:t> </a:t>
            </a:r>
            <a:r>
              <a:rPr sz="950" b="1" dirty="0" err="1">
                <a:solidFill>
                  <a:srgbClr val="B4532A"/>
                </a:solidFill>
                <a:latin typeface="Noto Sans CJK KR"/>
                <a:ea typeface="Noto Sans CJK KR"/>
              </a:rPr>
              <a:t>병목</a:t>
            </a:r>
            <a:r>
              <a:rPr sz="950" b="1" dirty="0">
                <a:solidFill>
                  <a:srgbClr val="B4532A"/>
                </a:solidFill>
                <a:latin typeface="Noto Sans CJK KR"/>
                <a:ea typeface="Noto Sans CJK KR"/>
              </a:rPr>
              <a:t> · </a:t>
            </a:r>
            <a:r>
              <a:rPr lang="ko-KR" altLang="en-US" sz="950" b="1" dirty="0">
                <a:solidFill>
                  <a:srgbClr val="B4532A"/>
                </a:solidFill>
                <a:latin typeface="Noto Sans CJK KR"/>
                <a:ea typeface="Noto Sans CJK KR"/>
              </a:rPr>
              <a:t>특정인 의존</a:t>
            </a:r>
            <a:endParaRPr sz="950" b="1" dirty="0">
              <a:solidFill>
                <a:srgbClr val="B4532A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②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주제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선정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 = '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선택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우선순위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'(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왜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뽑나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 =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인사이트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) · ⑤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인사이트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도출</a:t>
            </a:r>
            <a:r>
              <a:rPr sz="850" b="0" dirty="0">
                <a:solidFill>
                  <a:srgbClr val="7A381C"/>
                </a:solidFill>
                <a:latin typeface="Noto Sans CJK KR"/>
                <a:ea typeface="Noto Sans CJK KR"/>
              </a:rPr>
              <a:t> → </a:t>
            </a:r>
            <a:r>
              <a:rPr sz="850" b="0" dirty="0" err="1">
                <a:solidFill>
                  <a:srgbClr val="7A381C"/>
                </a:solidFill>
                <a:latin typeface="Noto Sans CJK KR"/>
                <a:ea typeface="Noto Sans CJK KR"/>
              </a:rPr>
              <a:t>편차</a:t>
            </a:r>
            <a:endParaRPr sz="850" b="0" dirty="0">
              <a:solidFill>
                <a:srgbClr val="7A381C"/>
              </a:solidFill>
              <a:latin typeface="Noto Sans CJK KR"/>
              <a:ea typeface="Noto Sans CJK KR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502920" y="3255264"/>
            <a:ext cx="68580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950" b="1">
                <a:solidFill>
                  <a:srgbClr val="4B555E"/>
                </a:solidFill>
                <a:latin typeface="Noto Sans CJK KR"/>
                <a:ea typeface="Noto Sans CJK KR"/>
              </a:rPr>
              <a:t>① 정보수집 — 5개 기본축 (수동 소싱)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❶ 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공공 </a:t>
            </a:r>
            <a:r>
              <a:rPr lang="en-US" altLang="ko-KR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·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 정책 채널</a:t>
            </a:r>
            <a:endParaRPr sz="919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790" b="0" dirty="0">
                <a:solidFill>
                  <a:srgbClr val="4B555E"/>
                </a:solidFill>
                <a:latin typeface="Noto Sans CJK KR"/>
                <a:ea typeface="Noto Sans CJK KR"/>
              </a:rPr>
              <a:t>정책브리핑</a:t>
            </a:r>
            <a:r>
              <a:rPr lang="en-US" altLang="ko-KR" sz="790" b="0" dirty="0">
                <a:solidFill>
                  <a:srgbClr val="4B555E"/>
                </a:solidFill>
                <a:latin typeface="Noto Sans CJK KR"/>
                <a:ea typeface="Noto Sans CJK KR"/>
              </a:rPr>
              <a:t>,</a:t>
            </a:r>
            <a:r>
              <a:rPr lang="ko-KR" altLang="en-US" sz="790" b="0" dirty="0">
                <a:solidFill>
                  <a:srgbClr val="4B555E"/>
                </a:solidFill>
                <a:latin typeface="Noto Sans CJK KR"/>
                <a:ea typeface="Noto Sans CJK KR"/>
              </a:rPr>
              <a:t> 국가데이터처 등</a:t>
            </a:r>
            <a:endParaRPr sz="79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2765145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❷ 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미디어 </a:t>
            </a:r>
            <a:r>
              <a:rPr lang="en-US" altLang="ko-KR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· 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뉴스 채널</a:t>
            </a:r>
            <a:endParaRPr sz="919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주요 언론사</a:t>
            </a:r>
            <a:r>
              <a:rPr lang="en-US" altLang="ko-KR" sz="790" dirty="0">
                <a:solidFill>
                  <a:srgbClr val="4B555E"/>
                </a:solidFill>
                <a:latin typeface="Noto Sans CJK KR"/>
                <a:ea typeface="Noto Sans CJK KR"/>
              </a:rPr>
              <a:t>,</a:t>
            </a: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 포털사이트</a:t>
            </a:r>
            <a:endParaRPr sz="79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5027371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❸ 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연구 </a:t>
            </a:r>
            <a:r>
              <a:rPr lang="en-US" altLang="ko-KR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·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 전문보고서</a:t>
            </a:r>
            <a:endParaRPr sz="919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한국은행</a:t>
            </a:r>
            <a:r>
              <a:rPr lang="en-US" altLang="ko-KR" sz="790" dirty="0">
                <a:solidFill>
                  <a:srgbClr val="4B555E"/>
                </a:solidFill>
                <a:latin typeface="Noto Sans CJK KR"/>
                <a:ea typeface="Noto Sans CJK KR"/>
              </a:rPr>
              <a:t>,</a:t>
            </a: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 </a:t>
            </a:r>
            <a:r>
              <a:rPr lang="en-US" altLang="ko-KR" sz="790" dirty="0">
                <a:solidFill>
                  <a:srgbClr val="4B555E"/>
                </a:solidFill>
                <a:latin typeface="Noto Sans CJK KR"/>
                <a:ea typeface="Noto Sans CJK KR"/>
              </a:rPr>
              <a:t>KDI, </a:t>
            </a: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산업연구원 등</a:t>
            </a:r>
            <a:endParaRPr sz="79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7289596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❹ 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국내외 </a:t>
            </a:r>
            <a:r>
              <a:rPr lang="ko-KR" altLang="en-US" sz="919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기술전</a:t>
            </a:r>
            <a:endParaRPr lang="en-US" altLang="ko-KR" sz="919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박람회</a:t>
            </a:r>
            <a:r>
              <a:rPr lang="en-US" altLang="ko-KR" sz="790" dirty="0">
                <a:solidFill>
                  <a:srgbClr val="4B555E"/>
                </a:solidFill>
                <a:latin typeface="Noto Sans CJK KR"/>
                <a:ea typeface="Noto Sans CJK KR"/>
              </a:rPr>
              <a:t>,</a:t>
            </a: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 컨퍼런스</a:t>
            </a:r>
            <a:r>
              <a:rPr lang="en-US" altLang="ko-KR" sz="790" dirty="0">
                <a:solidFill>
                  <a:srgbClr val="4B555E"/>
                </a:solidFill>
                <a:latin typeface="Noto Sans CJK KR"/>
                <a:ea typeface="Noto Sans CJK KR"/>
              </a:rPr>
              <a:t>,</a:t>
            </a:r>
            <a:r>
              <a:rPr lang="ko-KR" altLang="en-US" sz="790" dirty="0">
                <a:solidFill>
                  <a:srgbClr val="4B555E"/>
                </a:solidFill>
                <a:latin typeface="Noto Sans CJK KR"/>
                <a:ea typeface="Noto Sans CJK KR"/>
              </a:rPr>
              <a:t> 기업행사</a:t>
            </a:r>
            <a:endParaRPr sz="79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9551822" y="3474720"/>
            <a:ext cx="2134209" cy="402336"/>
          </a:xfrm>
          <a:prstGeom prst="roundRect">
            <a:avLst/>
          </a:prstGeom>
          <a:solidFill>
            <a:srgbClr val="ECEEF0"/>
          </a:solidFill>
          <a:ln w="9525">
            <a:solidFill>
              <a:srgbClr val="C3C9C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100"/>
              </a:spcAft>
            </a:pPr>
            <a:r>
              <a:rPr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❺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 트렌드 </a:t>
            </a:r>
            <a:r>
              <a:rPr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·</a:t>
            </a:r>
            <a:r>
              <a:rPr lang="ko-KR" altLang="en-US" sz="919" b="1" dirty="0">
                <a:solidFill>
                  <a:srgbClr val="22282E"/>
                </a:solidFill>
                <a:latin typeface="Noto Sans CJK KR"/>
                <a:ea typeface="Noto Sans CJK KR"/>
              </a:rPr>
              <a:t> 인사이트 채널</a:t>
            </a:r>
            <a:endParaRPr sz="919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90" b="0" dirty="0" err="1">
                <a:solidFill>
                  <a:srgbClr val="4B555E"/>
                </a:solidFill>
                <a:latin typeface="Noto Sans CJK KR"/>
                <a:ea typeface="Noto Sans CJK KR"/>
              </a:rPr>
              <a:t>광고사</a:t>
            </a:r>
            <a:r>
              <a:rPr sz="790" b="0" dirty="0">
                <a:solidFill>
                  <a:srgbClr val="4B555E"/>
                </a:solidFill>
                <a:latin typeface="Noto Sans CJK KR"/>
                <a:ea typeface="Noto Sans CJK KR"/>
              </a:rPr>
              <a:t> </a:t>
            </a:r>
            <a:r>
              <a:rPr sz="790" b="0" dirty="0" err="1">
                <a:solidFill>
                  <a:srgbClr val="4B555E"/>
                </a:solidFill>
                <a:latin typeface="Noto Sans CJK KR"/>
                <a:ea typeface="Noto Sans CJK KR"/>
              </a:rPr>
              <a:t>뉴스레터</a:t>
            </a:r>
            <a:r>
              <a:rPr lang="ko-KR" altLang="en-US" sz="790" b="0" dirty="0">
                <a:solidFill>
                  <a:srgbClr val="4B555E"/>
                </a:solidFill>
                <a:latin typeface="Noto Sans CJK KR"/>
                <a:ea typeface="Noto Sans CJK KR"/>
              </a:rPr>
              <a:t> 등</a:t>
            </a:r>
            <a:endParaRPr sz="79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502920" y="4425696"/>
            <a:ext cx="1234440" cy="29260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TO-BE  개선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874519" y="4453128"/>
            <a:ext cx="9418320" cy="16151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L1 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수집은</a:t>
            </a: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자동화로</a:t>
            </a: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 '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대체</a:t>
            </a: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', L2~L4 암묵지·4관점 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판단은</a:t>
            </a: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 '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증폭</a:t>
            </a: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’</a:t>
            </a:r>
            <a:r>
              <a:rPr lang="ko-KR" altLang="en-US"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 </a:t>
            </a:r>
            <a:r>
              <a:rPr lang="en-US" altLang="ko-KR"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–</a:t>
            </a:r>
            <a:r>
              <a:rPr lang="ko-KR" altLang="en-US"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 최종 판단은 사람</a:t>
            </a:r>
            <a:endParaRPr sz="1050" b="1" dirty="0">
              <a:solidFill>
                <a:srgbClr val="2E6E69"/>
              </a:solidFill>
              <a:latin typeface="Noto Sans CJK KR"/>
              <a:ea typeface="Noto Sans CJK KR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539496" y="4974336"/>
            <a:ext cx="1005840" cy="182880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대체 · AI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02920" y="5175504"/>
            <a:ext cx="2084831" cy="841248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L1  </a:t>
            </a:r>
            <a:r>
              <a:rPr lang="ko-KR" altLang="en-US"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정보 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수집</a:t>
            </a: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계층</a:t>
            </a:r>
            <a:endParaRPr sz="1050" b="1" dirty="0">
              <a:solidFill>
                <a:srgbClr val="2E6E69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830" dirty="0">
                <a:solidFill>
                  <a:srgbClr val="4B555E"/>
                </a:solidFill>
                <a:latin typeface="Noto Sans CJK KR"/>
                <a:ea typeface="Noto Sans CJK KR"/>
              </a:rPr>
              <a:t>5</a:t>
            </a:r>
            <a:r>
              <a:rPr lang="ko-KR" altLang="en-US" sz="830" dirty="0">
                <a:solidFill>
                  <a:srgbClr val="4B555E"/>
                </a:solidFill>
                <a:latin typeface="Noto Sans CJK KR"/>
                <a:ea typeface="Noto Sans CJK KR"/>
              </a:rPr>
              <a:t>개 기본축 정보 수집</a:t>
            </a:r>
            <a:r>
              <a:rPr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
크롤링·중복제거·1차 </a:t>
            </a:r>
            <a:r>
              <a:rPr sz="830" b="0" dirty="0" err="1">
                <a:solidFill>
                  <a:srgbClr val="4B555E"/>
                </a:solidFill>
                <a:latin typeface="Noto Sans CJK KR"/>
                <a:ea typeface="Noto Sans CJK KR"/>
              </a:rPr>
              <a:t>선별</a:t>
            </a:r>
            <a:endParaRPr sz="83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33" name="Chevron 32"/>
          <p:cNvSpPr/>
          <p:nvPr/>
        </p:nvSpPr>
        <p:spPr>
          <a:xfrm>
            <a:off x="2578608" y="5504688"/>
            <a:ext cx="228600" cy="182880"/>
          </a:xfrm>
          <a:prstGeom prst="chevron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ounded Rectangle 33"/>
          <p:cNvSpPr/>
          <p:nvPr/>
        </p:nvSpPr>
        <p:spPr>
          <a:xfrm>
            <a:off x="2807208" y="4974336"/>
            <a:ext cx="1005840" cy="182880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증폭 · 핵심자산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2770632" y="5175504"/>
            <a:ext cx="2084831" cy="841248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dirty="0">
                <a:solidFill>
                  <a:srgbClr val="8A5A1E"/>
                </a:solidFill>
                <a:latin typeface="Noto Sans CJK KR"/>
                <a:ea typeface="Noto Sans CJK KR"/>
              </a:rPr>
              <a:t>L2  </a:t>
            </a:r>
            <a:r>
              <a:rPr sz="1050" b="1" dirty="0" err="1">
                <a:solidFill>
                  <a:srgbClr val="8A5A1E"/>
                </a:solidFill>
                <a:latin typeface="Noto Sans CJK KR"/>
                <a:ea typeface="Noto Sans CJK KR"/>
              </a:rPr>
              <a:t>지식</a:t>
            </a:r>
            <a:r>
              <a:rPr sz="1050" b="1" dirty="0">
                <a:solidFill>
                  <a:srgbClr val="8A5A1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8A5A1E"/>
                </a:solidFill>
                <a:latin typeface="Noto Sans CJK KR"/>
                <a:ea typeface="Noto Sans CJK KR"/>
              </a:rPr>
              <a:t>계층</a:t>
            </a:r>
            <a:r>
              <a:rPr sz="1050" b="1" dirty="0">
                <a:solidFill>
                  <a:srgbClr val="8A5A1E"/>
                </a:solidFill>
                <a:latin typeface="Noto Sans CJK KR"/>
                <a:ea typeface="Noto Sans CJK KR"/>
              </a:rPr>
              <a:t> ★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830" dirty="0">
                <a:solidFill>
                  <a:srgbClr val="4B555E"/>
                </a:solidFill>
                <a:latin typeface="Noto Sans CJK KR"/>
                <a:ea typeface="Noto Sans CJK KR"/>
              </a:rPr>
              <a:t>정보의 채택</a:t>
            </a:r>
            <a:r>
              <a:rPr lang="en-US" altLang="ko-KR" sz="830" dirty="0">
                <a:solidFill>
                  <a:srgbClr val="4B555E"/>
                </a:solidFill>
                <a:latin typeface="Noto Sans CJK KR"/>
                <a:ea typeface="Noto Sans CJK KR"/>
              </a:rPr>
              <a:t>/</a:t>
            </a:r>
            <a:r>
              <a:rPr lang="ko-KR" altLang="en-US" sz="830" dirty="0">
                <a:solidFill>
                  <a:srgbClr val="4B555E"/>
                </a:solidFill>
                <a:latin typeface="Noto Sans CJK KR"/>
                <a:ea typeface="Noto Sans CJK KR"/>
              </a:rPr>
              <a:t>기각 요인</a:t>
            </a:r>
            <a:r>
              <a:rPr lang="en-US" altLang="ko-KR" sz="830" dirty="0">
                <a:solidFill>
                  <a:srgbClr val="4B555E"/>
                </a:solidFill>
                <a:latin typeface="Noto Sans CJK KR"/>
                <a:ea typeface="Noto Sans CJK KR"/>
              </a:rPr>
              <a:t>,</a:t>
            </a:r>
            <a:r>
              <a:rPr lang="ko-KR" altLang="en-US" sz="830" dirty="0">
                <a:solidFill>
                  <a:srgbClr val="4B555E"/>
                </a:solidFill>
                <a:latin typeface="Noto Sans CJK KR"/>
                <a:ea typeface="Noto Sans CJK KR"/>
              </a:rPr>
              <a:t> 판단근거 등</a:t>
            </a:r>
            <a:endParaRPr lang="en-US" altLang="ko-KR" sz="830" dirty="0">
              <a:solidFill>
                <a:srgbClr val="4B555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암묵지를 </a:t>
            </a:r>
            <a:r>
              <a:rPr lang="ko-KR" altLang="en-US" sz="830" b="0" dirty="0" err="1">
                <a:solidFill>
                  <a:srgbClr val="4B555E"/>
                </a:solidFill>
                <a:latin typeface="Noto Sans CJK KR"/>
                <a:ea typeface="Noto Sans CJK KR"/>
              </a:rPr>
              <a:t>구조화하여</a:t>
            </a:r>
            <a:r>
              <a:rPr lang="ko-KR" altLang="en-US"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 기록</a:t>
            </a:r>
            <a:endParaRPr sz="83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36" name="Chevron 35"/>
          <p:cNvSpPr/>
          <p:nvPr/>
        </p:nvSpPr>
        <p:spPr>
          <a:xfrm>
            <a:off x="4846320" y="5504688"/>
            <a:ext cx="228600" cy="182880"/>
          </a:xfrm>
          <a:prstGeom prst="chevron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Rounded Rectangle 36"/>
          <p:cNvSpPr/>
          <p:nvPr/>
        </p:nvSpPr>
        <p:spPr>
          <a:xfrm>
            <a:off x="5074920" y="4974336"/>
            <a:ext cx="1005840" cy="182880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증폭 · 다관점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38344" y="5175504"/>
            <a:ext cx="2084831" cy="841248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L3  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에이전트</a:t>
            </a:r>
            <a:r>
              <a:rPr sz="1050" b="1" dirty="0">
                <a:solidFill>
                  <a:srgbClr val="2E6E69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E6E69"/>
                </a:solidFill>
                <a:latin typeface="Noto Sans CJK KR"/>
                <a:ea typeface="Noto Sans CJK KR"/>
              </a:rPr>
              <a:t>계층</a:t>
            </a:r>
            <a:endParaRPr sz="1050" b="1" dirty="0">
              <a:solidFill>
                <a:srgbClr val="2E6E69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L1, L2</a:t>
            </a:r>
            <a:r>
              <a:rPr lang="ko-KR" altLang="en-US" sz="830" b="0" dirty="0" err="1">
                <a:solidFill>
                  <a:srgbClr val="4B555E"/>
                </a:solidFill>
                <a:latin typeface="Noto Sans CJK KR"/>
                <a:ea typeface="Noto Sans CJK KR"/>
              </a:rPr>
              <a:t>를</a:t>
            </a:r>
            <a:r>
              <a:rPr lang="ko-KR" altLang="en-US"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 </a:t>
            </a:r>
            <a:r>
              <a:rPr lang="ko-KR" altLang="en-US" sz="830" b="0" dirty="0" err="1">
                <a:solidFill>
                  <a:srgbClr val="4B555E"/>
                </a:solidFill>
                <a:latin typeface="Noto Sans CJK KR"/>
                <a:ea typeface="Noto Sans CJK KR"/>
              </a:rPr>
              <a:t>믹싱하여</a:t>
            </a:r>
            <a:r>
              <a:rPr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
</a:t>
            </a:r>
            <a:r>
              <a:rPr lang="ko-KR" altLang="en-US" sz="830" dirty="0">
                <a:solidFill>
                  <a:srgbClr val="4B555E"/>
                </a:solidFill>
                <a:latin typeface="Noto Sans CJK KR"/>
                <a:ea typeface="Noto Sans CJK KR"/>
              </a:rPr>
              <a:t>다양한 관점에서 시사점을 도출</a:t>
            </a:r>
            <a:endParaRPr lang="en-US" altLang="ko-KR" sz="830" dirty="0">
              <a:solidFill>
                <a:srgbClr val="4B555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en-US" altLang="ko-KR"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(</a:t>
            </a:r>
            <a:r>
              <a:rPr lang="ko-KR" altLang="en-US"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관점 충돌 시 사람이 판단</a:t>
            </a:r>
            <a:r>
              <a:rPr lang="en-US" altLang="ko-KR" sz="830" b="0" dirty="0">
                <a:solidFill>
                  <a:srgbClr val="4B555E"/>
                </a:solidFill>
                <a:latin typeface="Noto Sans CJK KR"/>
                <a:ea typeface="Noto Sans CJK KR"/>
              </a:rPr>
              <a:t>)</a:t>
            </a:r>
            <a:endParaRPr sz="83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39" name="Chevron 38"/>
          <p:cNvSpPr/>
          <p:nvPr/>
        </p:nvSpPr>
        <p:spPr>
          <a:xfrm>
            <a:off x="7114031" y="5504688"/>
            <a:ext cx="228600" cy="182880"/>
          </a:xfrm>
          <a:prstGeom prst="chevron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ounded Rectangle 39"/>
          <p:cNvSpPr/>
          <p:nvPr/>
        </p:nvSpPr>
        <p:spPr>
          <a:xfrm>
            <a:off x="7342631" y="4974336"/>
            <a:ext cx="1005840" cy="182880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증폭 · 인간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7306055" y="5175504"/>
            <a:ext cx="2084831" cy="841248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8A5A1E"/>
                </a:solidFill>
                <a:latin typeface="Noto Sans CJK KR"/>
                <a:ea typeface="Noto Sans CJK KR"/>
              </a:rPr>
              <a:t>L4  종합·판단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4B555E"/>
                </a:solidFill>
                <a:latin typeface="Noto Sans CJK KR"/>
                <a:ea typeface="Noto Sans CJK KR"/>
              </a:rPr>
              <a:t>사람이 최종 판단
채택/기각 표시</a:t>
            </a:r>
          </a:p>
        </p:txBody>
      </p:sp>
      <p:sp>
        <p:nvSpPr>
          <p:cNvPr id="42" name="Chevron 41"/>
          <p:cNvSpPr/>
          <p:nvPr/>
        </p:nvSpPr>
        <p:spPr>
          <a:xfrm>
            <a:off x="9381744" y="5504688"/>
            <a:ext cx="228600" cy="182880"/>
          </a:xfrm>
          <a:prstGeom prst="chevron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Rounded Rectangle 42"/>
          <p:cNvSpPr/>
          <p:nvPr/>
        </p:nvSpPr>
        <p:spPr>
          <a:xfrm>
            <a:off x="9610344" y="4974336"/>
            <a:ext cx="1005840" cy="182880"/>
          </a:xfrm>
          <a:prstGeom prst="roundRect">
            <a:avLst/>
          </a:prstGeom>
          <a:solidFill>
            <a:srgbClr val="8A939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750" b="1">
                <a:solidFill>
                  <a:srgbClr val="FFFFFF"/>
                </a:solidFill>
                <a:latin typeface="Noto Sans CJK KR"/>
                <a:ea typeface="Noto Sans CJK KR"/>
              </a:rPr>
              <a:t>학습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573768" y="5175504"/>
            <a:ext cx="2084831" cy="841248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8A939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4B555E"/>
                </a:solidFill>
                <a:latin typeface="Noto Sans CJK KR"/>
                <a:ea typeface="Noto Sans CJK KR"/>
              </a:rPr>
              <a:t>L5  학습 계층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830" b="0">
                <a:solidFill>
                  <a:srgbClr val="4B555E"/>
                </a:solidFill>
                <a:latin typeface="Noto Sans CJK KR"/>
                <a:ea typeface="Noto Sans CJK KR"/>
              </a:rPr>
              <a:t>사례 축적·평가기준·프롬프트
개선 (피드백 루프)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10881360" y="4443983"/>
            <a:ext cx="182880" cy="182880"/>
          </a:xfrm>
          <a:prstGeom prst="roundRect">
            <a:avLst/>
          </a:prstGeom>
          <a:solidFill>
            <a:srgbClr val="E7F0EE"/>
          </a:solidFill>
          <a:ln w="12700">
            <a:solidFill>
              <a:srgbClr val="2E6E6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1119104" y="4453127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대체(AI)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10881360" y="4690871"/>
            <a:ext cx="182880" cy="182880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11119104" y="4700016"/>
            <a:ext cx="11887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850" b="0">
                <a:solidFill>
                  <a:srgbClr val="4B555E"/>
                </a:solidFill>
                <a:latin typeface="Noto Sans CJK KR"/>
                <a:ea typeface="Noto Sans CJK KR"/>
              </a:rPr>
              <a:t>증폭(사람)</a:t>
            </a:r>
          </a:p>
        </p:txBody>
      </p:sp>
      <p:cxnSp>
        <p:nvCxnSpPr>
          <p:cNvPr id="51" name="꺾인 연결선[E] 50">
            <a:extLst>
              <a:ext uri="{FF2B5EF4-FFF2-40B4-BE49-F238E27FC236}">
                <a16:creationId xmlns:a16="http://schemas.microsoft.com/office/drawing/2014/main" id="{CB557D0C-EB43-BFEA-DDE4-B5891F31EC89}"/>
              </a:ext>
            </a:extLst>
          </p:cNvPr>
          <p:cNvCxnSpPr>
            <a:cxnSpLocks/>
            <a:stCxn id="44" idx="2"/>
            <a:endCxn id="35" idx="2"/>
          </p:cNvCxnSpPr>
          <p:nvPr/>
        </p:nvCxnSpPr>
        <p:spPr>
          <a:xfrm rot="5400000">
            <a:off x="7214616" y="2615184"/>
            <a:ext cx="12700" cy="6803136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꺾인 연결선[E] 52">
            <a:extLst>
              <a:ext uri="{FF2B5EF4-FFF2-40B4-BE49-F238E27FC236}">
                <a16:creationId xmlns:a16="http://schemas.microsoft.com/office/drawing/2014/main" id="{445B1DBE-8708-BC2D-AA62-FD4853C3510A}"/>
              </a:ext>
            </a:extLst>
          </p:cNvPr>
          <p:cNvCxnSpPr>
            <a:cxnSpLocks/>
            <a:stCxn id="44" idx="2"/>
            <a:endCxn id="41" idx="2"/>
          </p:cNvCxnSpPr>
          <p:nvPr/>
        </p:nvCxnSpPr>
        <p:spPr>
          <a:xfrm rot="5400000">
            <a:off x="9482328" y="4882896"/>
            <a:ext cx="12700" cy="2267713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32297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To-Be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실행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설계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: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다관점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AI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에이전트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·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암묵지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210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코드화</a:t>
            </a:r>
            <a:r>
              <a:rPr sz="210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76656"/>
            <a:ext cx="11155680" cy="1845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20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차별화는</a:t>
            </a:r>
            <a:r>
              <a:rPr sz="1200" b="0" dirty="0">
                <a:solidFill>
                  <a:srgbClr val="8A939B"/>
                </a:solidFill>
                <a:latin typeface="Noto Sans CJK KR"/>
                <a:ea typeface="Noto Sans CJK KR"/>
              </a:rPr>
              <a:t> ＇</a:t>
            </a:r>
            <a:r>
              <a:rPr lang="ko-KR" altLang="en-US" sz="1200" dirty="0" err="1">
                <a:solidFill>
                  <a:srgbClr val="8A939B"/>
                </a:solidFill>
                <a:latin typeface="Noto Sans CJK KR"/>
                <a:ea typeface="Noto Sans CJK KR"/>
              </a:rPr>
              <a:t>다관점</a:t>
            </a:r>
            <a:r>
              <a:rPr lang="ko-KR" altLang="en-US" sz="1200" dirty="0">
                <a:solidFill>
                  <a:srgbClr val="8A939B"/>
                </a:solidFill>
                <a:latin typeface="Noto Sans CJK KR"/>
                <a:ea typeface="Noto Sans CJK KR"/>
              </a:rPr>
              <a:t> 에이전트 </a:t>
            </a:r>
            <a:r>
              <a:rPr sz="1200" b="0" dirty="0">
                <a:solidFill>
                  <a:srgbClr val="8A939B"/>
                </a:solidFill>
                <a:latin typeface="Noto Sans CJK KR"/>
                <a:ea typeface="Noto Sans CJK KR"/>
              </a:rPr>
              <a:t>'</a:t>
            </a:r>
            <a:r>
              <a:rPr lang="ko-KR" altLang="en-US" sz="120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  <a:r>
              <a:rPr lang="ko-KR" altLang="en-US" sz="1200" dirty="0">
                <a:solidFill>
                  <a:srgbClr val="8A939B"/>
                </a:solidFill>
                <a:latin typeface="Noto Sans CJK KR"/>
                <a:ea typeface="Noto Sans CJK KR"/>
              </a:rPr>
              <a:t>와</a:t>
            </a:r>
            <a:r>
              <a:rPr sz="1200" b="0" dirty="0">
                <a:solidFill>
                  <a:srgbClr val="8A939B"/>
                </a:solidFill>
                <a:latin typeface="Noto Sans CJK KR"/>
                <a:ea typeface="Noto Sans CJK KR"/>
              </a:rPr>
              <a:t> '</a:t>
            </a:r>
            <a:r>
              <a:rPr sz="120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암묵지</a:t>
            </a:r>
            <a:r>
              <a:rPr sz="120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  <a:r>
              <a:rPr sz="120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코드화'에서</a:t>
            </a:r>
            <a:r>
              <a:rPr sz="120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  <a:r>
              <a:rPr sz="1200" b="0" dirty="0" err="1">
                <a:solidFill>
                  <a:srgbClr val="8A939B"/>
                </a:solidFill>
                <a:latin typeface="Noto Sans CJK KR"/>
                <a:ea typeface="Noto Sans CJK KR"/>
              </a:rPr>
              <a:t>나온다</a:t>
            </a:r>
            <a:r>
              <a:rPr sz="1200" b="0" dirty="0">
                <a:solidFill>
                  <a:srgbClr val="8A939B"/>
                </a:solidFill>
                <a:latin typeface="Noto Sans CJK KR"/>
                <a:ea typeface="Noto Sans CJK KR"/>
              </a:rPr>
              <a:t> 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502920" y="1069848"/>
            <a:ext cx="11183112" cy="0"/>
          </a:xfrm>
          <a:prstGeom prst="bentConnector3">
            <a:avLst/>
          </a:prstGeom>
          <a:ln w="15240">
            <a:solidFill>
              <a:srgbClr val="D5D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502920" y="1280160"/>
            <a:ext cx="3840480" cy="301752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① 다관점 AI 에이전트 (4개 관점, L3 계층)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64207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상품</a:t>
            </a:r>
            <a:r>
              <a:rPr lang="en-US" altLang="ko-KR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/</a:t>
            </a: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서비스</a:t>
            </a:r>
            <a:endParaRPr sz="105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1618488" y="1664207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외부 변화가 우리가 제공하는 상품</a:t>
            </a:r>
            <a:r>
              <a:rPr lang="en-US" altLang="ko-KR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/</a:t>
            </a:r>
            <a:r>
              <a:rPr lang="ko-KR" altLang="en-US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서비스의 본질과 라인업에 </a:t>
            </a:r>
            <a:r>
              <a:rPr lang="ko-KR" altLang="en-US" sz="950" b="1">
                <a:solidFill>
                  <a:srgbClr val="22282E"/>
                </a:solidFill>
                <a:latin typeface="Noto Sans CJK KR"/>
                <a:ea typeface="Noto Sans CJK KR"/>
              </a:rPr>
              <a:t>미치는 영향</a:t>
            </a:r>
            <a:endParaRPr lang="en-US" altLang="ko-KR" sz="950" b="1" dirty="0">
              <a:solidFill>
                <a:srgbClr val="22282E"/>
              </a:solidFill>
              <a:latin typeface="Noto Sans CJK KR"/>
              <a:ea typeface="Noto Sans CJK KR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502920" y="2208276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영업</a:t>
            </a:r>
            <a:r>
              <a:rPr lang="en-US" altLang="ko-KR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/</a:t>
            </a: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채널</a:t>
            </a:r>
            <a:endParaRPr sz="105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1618488" y="2208276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외부 변화가 영업 기회와 매출에 미치는 영향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2752344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기술</a:t>
            </a:r>
            <a:r>
              <a:rPr lang="en-US" altLang="ko-KR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/</a:t>
            </a: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인프라</a:t>
            </a:r>
            <a:endParaRPr sz="105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1618488" y="2752344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외부 변화를 뒷받침하거나 대응하기 위한 내부 기술 역량과 시스템의 영향</a:t>
            </a:r>
            <a:endParaRPr lang="en-US" altLang="ko-KR" sz="950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ctr">
              <a:lnSpc>
                <a:spcPct val="100000"/>
              </a:lnSpc>
              <a:spcAft>
                <a:spcPts val="200"/>
              </a:spcAft>
            </a:pPr>
            <a:endParaRPr sz="900" b="0" dirty="0">
              <a:solidFill>
                <a:srgbClr val="2E6E69"/>
              </a:solidFill>
              <a:latin typeface="Noto Sans CJK KR"/>
              <a:ea typeface="Noto Sans CJK KR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502920" y="3296412"/>
            <a:ext cx="1051560" cy="498348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마케팅</a:t>
            </a:r>
            <a:endParaRPr sz="105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1618488" y="3296412"/>
            <a:ext cx="4507992" cy="498348"/>
          </a:xfrm>
          <a:prstGeom prst="roundRect">
            <a:avLst/>
          </a:prstGeom>
          <a:solidFill>
            <a:srgbClr val="F5F6F7"/>
          </a:solidFill>
          <a:ln w="9525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lang="ko-KR" altLang="en-US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상품 메시징 및 포지셔닝</a:t>
            </a:r>
            <a:r>
              <a:rPr lang="en-US" altLang="ko-KR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,</a:t>
            </a:r>
            <a:r>
              <a:rPr lang="ko-KR" altLang="en-US" sz="950" b="1" dirty="0">
                <a:solidFill>
                  <a:srgbClr val="22282E"/>
                </a:solidFill>
                <a:latin typeface="Noto Sans CJK KR"/>
                <a:ea typeface="Noto Sans CJK KR"/>
              </a:rPr>
              <a:t> 마케팅 캠페인 등 인사이트 도출</a:t>
            </a:r>
            <a:endParaRPr sz="900" b="0" dirty="0">
              <a:solidFill>
                <a:srgbClr val="2E6E69"/>
              </a:solidFill>
              <a:latin typeface="Noto Sans CJK KR"/>
              <a:ea typeface="Noto Sans CJK KR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46520" y="1280160"/>
            <a:ext cx="4206240" cy="301752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② 암묵지 코드화 (핵심 자산) — 사람의 역할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46520" y="1664207"/>
            <a:ext cx="5239512" cy="2615184"/>
          </a:xfrm>
          <a:prstGeom prst="roundRect">
            <a:avLst/>
          </a:prstGeom>
          <a:solidFill>
            <a:srgbClr val="F3ECDF"/>
          </a:solidFill>
          <a:ln w="12700">
            <a:solidFill>
              <a:srgbClr val="8A5A1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sp>
        <p:nvSpPr>
          <p:cNvPr id="18" name="Oval 17"/>
          <p:cNvSpPr/>
          <p:nvPr/>
        </p:nvSpPr>
        <p:spPr>
          <a:xfrm>
            <a:off x="6647688" y="1865376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50024" y="1917991"/>
            <a:ext cx="4462272" cy="333681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결론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(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무엇을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)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아닌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근거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(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왜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)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를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코드화</a:t>
            </a:r>
            <a:endParaRPr sz="1050" b="1" dirty="0">
              <a:solidFill>
                <a:srgbClr val="22282E"/>
              </a:solidFill>
              <a:latin typeface="Noto Sans CJK KR"/>
              <a:ea typeface="Noto Sans CJK KR"/>
            </a:endParaRPr>
          </a:p>
          <a:p>
            <a:pPr algn="l">
              <a:lnSpc>
                <a:spcPct val="105000"/>
              </a:lnSpc>
              <a:spcAft>
                <a:spcPts val="0"/>
              </a:spcAft>
            </a:pPr>
            <a:endParaRPr sz="900" b="0" dirty="0">
              <a:solidFill>
                <a:srgbClr val="4B555E"/>
              </a:solidFill>
              <a:latin typeface="Noto Sans CJK KR"/>
              <a:ea typeface="Noto Sans CJK KR"/>
            </a:endParaRPr>
          </a:p>
        </p:txBody>
      </p:sp>
      <p:sp>
        <p:nvSpPr>
          <p:cNvPr id="20" name="Oval 19"/>
          <p:cNvSpPr/>
          <p:nvPr/>
        </p:nvSpPr>
        <p:spPr>
          <a:xfrm>
            <a:off x="6647688" y="2455164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50024" y="2512835"/>
            <a:ext cx="4462272" cy="16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근거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우선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표준</a:t>
            </a:r>
            <a:r>
              <a:rPr lang="ko-KR" altLang="en-US"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양식</a:t>
            </a:r>
          </a:p>
        </p:txBody>
      </p:sp>
      <p:sp>
        <p:nvSpPr>
          <p:cNvPr id="22" name="Oval 21"/>
          <p:cNvSpPr/>
          <p:nvPr/>
        </p:nvSpPr>
        <p:spPr>
          <a:xfrm>
            <a:off x="6647688" y="3044952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50024" y="3114199"/>
            <a:ext cx="4462272" cy="16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구체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사례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인터뷰로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추출</a:t>
            </a:r>
            <a:endParaRPr sz="1050" b="1" dirty="0">
              <a:solidFill>
                <a:srgbClr val="22282E"/>
              </a:solidFill>
              <a:latin typeface="Noto Sans CJK KR"/>
              <a:ea typeface="Noto Sans CJK KR"/>
            </a:endParaRPr>
          </a:p>
        </p:txBody>
      </p:sp>
      <p:sp>
        <p:nvSpPr>
          <p:cNvPr id="24" name="Oval 23"/>
          <p:cNvSpPr/>
          <p:nvPr/>
        </p:nvSpPr>
        <p:spPr>
          <a:xfrm>
            <a:off x="6647688" y="3634740"/>
            <a:ext cx="274320" cy="274320"/>
          </a:xfrm>
          <a:prstGeom prst="ellipse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Noto Sans CJK KR"/>
                <a:ea typeface="Noto Sans CJK KR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50024" y="3692412"/>
            <a:ext cx="4462272" cy="161519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  <a:spcAft>
                <a:spcPts val="200"/>
              </a:spcAft>
            </a:pP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채택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/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기각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기록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=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학습</a:t>
            </a:r>
            <a:r>
              <a:rPr sz="1050" b="1" dirty="0">
                <a:solidFill>
                  <a:srgbClr val="22282E"/>
                </a:solidFill>
                <a:latin typeface="Noto Sans CJK KR"/>
                <a:ea typeface="Noto Sans CJK KR"/>
              </a:rPr>
              <a:t> </a:t>
            </a:r>
            <a:r>
              <a:rPr sz="1050" b="1" dirty="0" err="1">
                <a:solidFill>
                  <a:srgbClr val="22282E"/>
                </a:solidFill>
                <a:latin typeface="Noto Sans CJK KR"/>
                <a:ea typeface="Noto Sans CJK KR"/>
              </a:rPr>
              <a:t>데이터</a:t>
            </a:r>
            <a:endParaRPr sz="1050" b="1" dirty="0">
              <a:solidFill>
                <a:srgbClr val="22282E"/>
              </a:solidFill>
              <a:latin typeface="Noto Sans CJK KR"/>
              <a:ea typeface="Noto Sans CJK KR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502920" y="4590288"/>
            <a:ext cx="4389120" cy="301752"/>
          </a:xfrm>
          <a:prstGeom prst="roundRect">
            <a:avLst/>
          </a:prstGeom>
          <a:solidFill>
            <a:srgbClr val="22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③ </a:t>
            </a:r>
            <a:r>
              <a:rPr lang="ko-KR" altLang="en-US" sz="1050" b="1" dirty="0">
                <a:solidFill>
                  <a:srgbClr val="FFFFFF"/>
                </a:solidFill>
                <a:latin typeface="Noto Sans CJK KR"/>
                <a:ea typeface="Noto Sans CJK KR"/>
              </a:rPr>
              <a:t>추진 계획</a:t>
            </a:r>
            <a:endParaRPr sz="105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cxnSp>
        <p:nvCxnSpPr>
          <p:cNvPr id="27" name="Connector 26"/>
          <p:cNvCxnSpPr/>
          <p:nvPr/>
        </p:nvCxnSpPr>
        <p:spPr>
          <a:xfrm>
            <a:off x="5120640" y="4736592"/>
            <a:ext cx="6446519" cy="0"/>
          </a:xfrm>
          <a:prstGeom prst="bentConnector3">
            <a:avLst/>
          </a:prstGeom>
          <a:ln w="15240">
            <a:solidFill>
              <a:srgbClr val="D5D9D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685800" y="5065775"/>
            <a:ext cx="3520440" cy="402336"/>
          </a:xfrm>
          <a:prstGeom prst="roundRect">
            <a:avLst/>
          </a:prstGeom>
          <a:solidFill>
            <a:srgbClr val="2E6E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8월  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기준</a:t>
            </a: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정의·사례</a:t>
            </a: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정리·수집</a:t>
            </a: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자동화</a:t>
            </a:r>
            <a:endParaRPr sz="110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85800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813816" y="5596127"/>
            <a:ext cx="3264408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범위·선별 기준·에이전트 관점(역할) 정의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베테랑 워크숍 → 핵심 사례 20~30건 정리·저장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수집 자동화 시범 구축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407408" y="5065775"/>
            <a:ext cx="3520440" cy="402336"/>
          </a:xfrm>
          <a:prstGeom prst="roundRect">
            <a:avLst/>
          </a:prstGeom>
          <a:solidFill>
            <a:srgbClr val="8A5A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9월  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에이전트</a:t>
            </a: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시범</a:t>
            </a: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구축</a:t>
            </a:r>
            <a:endParaRPr sz="110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sp>
        <p:nvSpPr>
          <p:cNvPr id="32" name="Rounded Rectangle 31"/>
          <p:cNvSpPr/>
          <p:nvPr/>
        </p:nvSpPr>
        <p:spPr>
          <a:xfrm>
            <a:off x="4407408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535424" y="5596127"/>
            <a:ext cx="3264408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4개 관점 에이전트 시제품 구축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과거 리포트로 성능 검증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관점 충돌·확신도 표시 화면 설계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29016" y="5065775"/>
            <a:ext cx="3520440" cy="402336"/>
          </a:xfrm>
          <a:prstGeom prst="roundRect">
            <a:avLst/>
          </a:prstGeom>
          <a:solidFill>
            <a:srgbClr val="2228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100" b="1" dirty="0">
                <a:solidFill>
                  <a:srgbClr val="FFFFFF"/>
                </a:solidFill>
                <a:latin typeface="Noto Sans CJK KR"/>
                <a:ea typeface="Noto Sans CJK KR"/>
              </a:rPr>
              <a:t>10월  </a:t>
            </a:r>
            <a:r>
              <a:rPr sz="1100" b="1" dirty="0" err="1">
                <a:solidFill>
                  <a:srgbClr val="FFFFFF"/>
                </a:solidFill>
                <a:latin typeface="Noto Sans CJK KR"/>
                <a:ea typeface="Noto Sans CJK KR"/>
              </a:rPr>
              <a:t>시범운영</a:t>
            </a:r>
            <a:endParaRPr sz="1100" b="1" dirty="0">
              <a:solidFill>
                <a:srgbClr val="FFFFFF"/>
              </a:solidFill>
              <a:latin typeface="Noto Sans CJK KR"/>
              <a:ea typeface="Noto Sans CJK KR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8129016" y="5504688"/>
            <a:ext cx="3520440" cy="1225296"/>
          </a:xfrm>
          <a:prstGeom prst="roundRect">
            <a:avLst/>
          </a:prstGeom>
          <a:solidFill>
            <a:srgbClr val="F5F6F7"/>
          </a:solidFill>
          <a:ln w="12700">
            <a:solidFill>
              <a:srgbClr val="D5D9D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64008" tIns="27432" rIns="64008" bIns="27432" rtlCol="0" anchor="ctr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257032" y="5596127"/>
            <a:ext cx="3264408" cy="107899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1~2회 실제 발행 사이클에 병행 적용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4B555E"/>
                </a:solidFill>
                <a:latin typeface="Noto Sans CJK KR"/>
                <a:ea typeface="Noto Sans CJK KR"/>
              </a:rPr>
              <a:t>•  채택/기각 기록 운영 → 학습 데이터 확보</a:t>
            </a:r>
          </a:p>
          <a:p>
            <a:pPr algn="l">
              <a:lnSpc>
                <a:spcPct val="102000"/>
              </a:lnSpc>
              <a:spcAft>
                <a:spcPts val="600"/>
              </a:spcAft>
            </a:pPr>
            <a:r>
              <a:rPr sz="950" b="0">
                <a:solidFill>
                  <a:srgbClr val="8A939B"/>
                </a:solidFill>
                <a:latin typeface="Noto Sans CJK KR"/>
                <a:ea typeface="Noto Sans CJK KR"/>
              </a:rPr>
              <a:t>•  ※ 이후 정식운영·개선 확장(4단계)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</TotalTime>
  <Words>554</Words>
  <Application>Microsoft Macintosh PowerPoint</Application>
  <PresentationFormat>와이드스크린</PresentationFormat>
  <Paragraphs>85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6" baseType="lpstr">
      <vt:lpstr>Noto Sans CJK KR</vt:lpstr>
      <vt:lpstr>Arial</vt:lpstr>
      <vt:lpstr>Calibri</vt:lpstr>
      <vt:lpstr>Office Theme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지나 서</cp:lastModifiedBy>
  <cp:revision>3</cp:revision>
  <dcterms:created xsi:type="dcterms:W3CDTF">2013-01-27T09:14:16Z</dcterms:created>
  <dcterms:modified xsi:type="dcterms:W3CDTF">2026-07-23T08:53:02Z</dcterms:modified>
  <cp:category/>
</cp:coreProperties>
</file>