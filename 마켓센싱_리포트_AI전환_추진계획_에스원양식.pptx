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flipH="1">
            <a:off x="4876678" y="2743200"/>
            <a:ext cx="7315017" cy="4114800"/>
          </a:xfrm>
          <a:prstGeom prst="rtTriangle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182880" y="6172200"/>
            <a:ext cx="3291840" cy="685800"/>
          </a:xfrm>
          <a:prstGeom prst="parallelogram">
            <a:avLst/>
          </a:prstGeom>
          <a:solidFill>
            <a:srgbClr val="FF3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9997135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마켓센싱 리포트 AI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97135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800" b="0">
                <a:solidFill>
                  <a:srgbClr val="E4EEF9"/>
                </a:solidFill>
                <a:latin typeface="Arial"/>
                <a:ea typeface="SamsungOneKorean 400"/>
                <a:cs typeface="SamsungOneKorean 400"/>
              </a:rPr>
              <a:t>인프라사업부 협의 및 추진일정(안)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9997135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  <a:ea typeface="SamsungOneKorean 600"/>
                <a:cs typeface="SamsungOneKorean 600"/>
              </a:rPr>
              <a:t>2026. 08. 11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9997135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400" b="0">
                <a:solidFill>
                  <a:srgbClr val="E4EEF9"/>
                </a:solidFill>
                <a:latin typeface="Arial"/>
                <a:ea typeface="SamsungOneKorean 400"/>
                <a:cs typeface="SamsungOneKorean 400"/>
              </a:rPr>
              <a:t>시큐리티사업부 기획팀 사업기획그룹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에스원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9585655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  <a:ea typeface="SamsungOneKorean 700"/>
                <a:cs typeface="SamsungOneKorean 700"/>
              </a:rPr>
              <a:t>추진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0116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에스원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3657508" cy="45720"/>
          </a:xfrm>
          <a:prstGeom prst="rect">
            <a:avLst/>
          </a:prstGeom>
          <a:solidFill>
            <a:srgbClr val="FF3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8" y="6547104"/>
            <a:ext cx="8534186" cy="4572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720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0">
                <a:solidFill>
                  <a:srgbClr val="9B9B9B"/>
                </a:solidFill>
                <a:latin typeface="Arial"/>
                <a:ea typeface="SamsungOneKorean 400"/>
                <a:cs typeface="SamsungOneKorean 400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6012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0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960120"/>
            <a:ext cx="108813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전사 리포트 제작을 위해 인프라사업부 협의로 정보수집·주제선정 공백 해소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11183112" cy="329184"/>
          </a:xfrm>
          <a:prstGeom prst="roundRect">
            <a:avLst>
              <a:gd name="adj" fmla="val 50000"/>
            </a:avLst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11183112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300" b="0">
                <a:solidFill>
                  <a:srgbClr val="404040"/>
                </a:solidFill>
                <a:latin typeface="Arial"/>
                <a:ea typeface="SamsungOneKorean 600"/>
                <a:cs typeface="SamsungOneKorean 600"/>
              </a:rPr>
              <a:t>배경 · 기간 · 접근 방식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8600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2286000"/>
            <a:ext cx="3355848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00000"/>
                </a:solidFill>
                <a:latin typeface="Arial"/>
                <a:ea typeface="SamsungOneKorean 600"/>
                <a:cs typeface="SamsungOneKorean 600"/>
              </a:rPr>
              <a:t>배경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E7E7F"/>
                </a:solidFill>
                <a:latin typeface="Arial"/>
                <a:ea typeface="SamsungOneKorean 300"/>
                <a:cs typeface="SamsungOneKorean 300"/>
              </a:rPr>
              <a:t>시큐리티사업부 주관 전사 리포트. 인프라 정보수집 범위·주제 기준 미파악 → 사전 협의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28600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7" y="2286000"/>
            <a:ext cx="3355848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00000"/>
                </a:solidFill>
                <a:latin typeface="Arial"/>
                <a:ea typeface="SamsungOneKorean 600"/>
                <a:cs typeface="SamsungOneKorean 600"/>
              </a:rPr>
              <a:t>기간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E7E7F"/>
                </a:solidFill>
                <a:latin typeface="Arial"/>
                <a:ea typeface="SamsungOneKorean 300"/>
                <a:cs typeface="SamsungOneKorean 300"/>
              </a:rPr>
              <a:t>착수 8/18(화) ~ 시범운영 9/18(금). 약 4.5주 압축 일정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286000"/>
            <a:ext cx="3630168" cy="1234440"/>
          </a:xfrm>
          <a:prstGeom prst="roundRect">
            <a:avLst>
              <a:gd name="adj" fmla="val 5000"/>
            </a:avLst>
          </a:prstGeom>
          <a:solidFill>
            <a:srgbClr val="F3FAFD"/>
          </a:solidFill>
          <a:ln w="15875">
            <a:solidFill>
              <a:srgbClr val="007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286000"/>
            <a:ext cx="3374136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접근 방식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E7E7F"/>
                </a:solidFill>
                <a:latin typeface="Arial"/>
                <a:ea typeface="SamsungOneKorean 300"/>
                <a:cs typeface="SamsungOneKorean 300"/>
              </a:rPr>
              <a:t>원안 3단계(기준정의→구축→시범)를 압축, 인프라 협의를 착수 첫 주에 병렬 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237744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3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8/18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79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200" b="0">
                <a:solidFill>
                  <a:srgbClr val="7E7E7F"/>
                </a:solidFill>
                <a:latin typeface="Arial"/>
                <a:ea typeface="SamsungOneKorean 400"/>
                <a:cs typeface="SamsungOneKorean 400"/>
              </a:rPr>
              <a:t>착수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3977639"/>
            <a:ext cx="237744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3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9/18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4526279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200" b="0">
                <a:solidFill>
                  <a:srgbClr val="7E7E7F"/>
                </a:solidFill>
                <a:latin typeface="Arial"/>
                <a:ea typeface="SamsungOneKorean 400"/>
                <a:cs typeface="SamsungOneKorean 400"/>
              </a:rPr>
              <a:t>시범운영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237744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3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약 4.5주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79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200" b="0">
                <a:solidFill>
                  <a:srgbClr val="7E7E7F"/>
                </a:solidFill>
                <a:latin typeface="Arial"/>
                <a:ea typeface="SamsungOneKorean 400"/>
                <a:cs typeface="SamsungOneKorean 400"/>
              </a:rPr>
              <a:t>총 기간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977639"/>
            <a:ext cx="237744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3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6영역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4526279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200" b="0">
                <a:solidFill>
                  <a:srgbClr val="7E7E7F"/>
                </a:solidFill>
                <a:latin typeface="Arial"/>
                <a:ea typeface="SamsungOneKorean 400"/>
                <a:cs typeface="SamsungOneKorean 400"/>
              </a:rPr>
              <a:t>협의 항목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✓ </a:t>
            </a:r>
            <a:r>
              <a:rPr sz="13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W1~W2 인프라 협의 지연 시 이후 전 일정 순연 — 착수 첫 주 협의 완료가 관건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02.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9585655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  <a:ea typeface="SamsungOneKorean 700"/>
                <a:cs typeface="SamsungOneKorean 700"/>
              </a:rPr>
              <a:t>인프라사업부 사전 협의사항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0116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에스원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3657508" cy="45720"/>
          </a:xfrm>
          <a:prstGeom prst="rect">
            <a:avLst/>
          </a:prstGeom>
          <a:solidFill>
            <a:srgbClr val="FF3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8" y="6547104"/>
            <a:ext cx="8534186" cy="4572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720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0">
                <a:solidFill>
                  <a:srgbClr val="9B9B9B"/>
                </a:solidFill>
                <a:latin typeface="Arial"/>
                <a:ea typeface="SamsungOneKorean 400"/>
                <a:cs typeface="SamsungOneKorean 400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6012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0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960120"/>
            <a:ext cx="108813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700" b="0" smtClean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 </a:t>
            </a:r>
            <a:r>
              <a:rPr sz="170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정보 소스(A)와 관점(C) 미확정 시 에이전트 구축 착수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82296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822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구분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737360"/>
            <a:ext cx="237744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1737360"/>
            <a:ext cx="23774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협의 영역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1737360"/>
            <a:ext cx="7982712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1737360"/>
            <a:ext cx="7982712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확인 · 합의 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21408"/>
            <a:ext cx="822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121408"/>
            <a:ext cx="822960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1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2121408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4168" y="2121408"/>
            <a:ext cx="2340864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정보수집 계층 정합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2121408"/>
            <a:ext cx="79827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21608" y="2121408"/>
            <a:ext cx="7946136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5개 기본축별 실제 소싱처, 시큐리티와 중복·고유 소스 구분, 크롤링 대상·유료구독·접근권한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79776"/>
            <a:ext cx="82296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779776"/>
            <a:ext cx="822960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1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2779776"/>
            <a:ext cx="237744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44168" y="2779776"/>
            <a:ext cx="2340864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주제선정 기준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779776"/>
            <a:ext cx="7982712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1608" y="2779776"/>
            <a:ext cx="7946136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인프라 핵심 관심 주제·키워드 풀, 우선순위 판단근거, 전사 리포트 내 시큐리티:인프라 비중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38144"/>
            <a:ext cx="822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438144"/>
            <a:ext cx="822960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1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5880" y="3438144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44168" y="3438144"/>
            <a:ext cx="2340864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관점 정의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438144"/>
            <a:ext cx="79827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21608" y="3438144"/>
            <a:ext cx="7946136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4개 관점(상품/영업/기술/마케팅) 적용 여부, 인프라 고유 관점(부동산·FM·에너지 등) 추가 필요성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96511"/>
            <a:ext cx="82296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096511"/>
            <a:ext cx="822960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1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096511"/>
            <a:ext cx="237744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44168" y="4096511"/>
            <a:ext cx="2340864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암묵지 자산화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4096511"/>
            <a:ext cx="7982712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21608" y="4096511"/>
            <a:ext cx="7946136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인프라측 인터뷰 대상 지정, 근거 표준양식 공통 사용, 채택/기각 판단준거 부서 간 정합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754879"/>
            <a:ext cx="822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754879"/>
            <a:ext cx="822960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1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25880" y="4754879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44168" y="4754879"/>
            <a:ext cx="2340864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독자 · 활용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4754879"/>
            <a:ext cx="79827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21608" y="4754879"/>
            <a:ext cx="7946136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인프라사업부 내 리포트 독자·의사결정 용도, 발행주기·포맷 통일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413247"/>
            <a:ext cx="82296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5413247"/>
            <a:ext cx="822960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10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25880" y="5413247"/>
            <a:ext cx="237744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44168" y="5413247"/>
            <a:ext cx="2340864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협업 운영체계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03320" y="5413247"/>
            <a:ext cx="7982712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21608" y="5413247"/>
            <a:ext cx="7946136" cy="65836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양 사업부 담당자·창구 지정, 정례 미팅 주기, 데이터·산출물 공유 채널·권한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03.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9585655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  <a:ea typeface="SamsungOneKorean 700"/>
                <a:cs typeface="SamsungOneKorean 700"/>
              </a:rPr>
              <a:t>주차별 추진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0116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에스원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3657508" cy="45720"/>
          </a:xfrm>
          <a:prstGeom prst="rect">
            <a:avLst/>
          </a:prstGeom>
          <a:solidFill>
            <a:srgbClr val="FF3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8" y="6547104"/>
            <a:ext cx="8534186" cy="4572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720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0">
                <a:solidFill>
                  <a:srgbClr val="9B9B9B"/>
                </a:solidFill>
                <a:latin typeface="Arial"/>
                <a:ea typeface="SamsungOneKorean 400"/>
                <a:cs typeface="SamsungOneKorean 400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6012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0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960120"/>
            <a:ext cx="108813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8/18 착수 → 9/18 시범운영, 약 4.5주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77724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7772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주차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737360"/>
            <a:ext cx="137160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1737360"/>
            <a:ext cx="13716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기간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737360"/>
            <a:ext cx="1874519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1737360"/>
            <a:ext cx="187451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단계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79" y="1737360"/>
            <a:ext cx="402336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1737360"/>
            <a:ext cx="40233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주요 과업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737360"/>
            <a:ext cx="3136392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1737360"/>
            <a:ext cx="3136392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산출물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21408"/>
            <a:ext cx="777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121408"/>
            <a:ext cx="77724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W1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2121408"/>
            <a:ext cx="1371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2121408"/>
            <a:ext cx="133502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8/18~8/22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121408"/>
            <a:ext cx="187451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70048" y="2121408"/>
            <a:ext cx="1837943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착수·협의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79" y="2121408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7" y="2121408"/>
            <a:ext cx="39867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킥오프, 범위·선별기준 정의, 인프라 1차 협의(A·C·F)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2121408"/>
            <a:ext cx="313639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67928" y="2121408"/>
            <a:ext cx="309981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과제정의서, 협의 회의록, 소스맵(초안)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907791"/>
            <a:ext cx="77724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2907791"/>
            <a:ext cx="77724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W2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2907791"/>
            <a:ext cx="137160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98448" y="2907791"/>
            <a:ext cx="133502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8/25~8/29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907791"/>
            <a:ext cx="1874519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70048" y="2907791"/>
            <a:ext cx="1837943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기준정의·사례정리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79" y="2907791"/>
            <a:ext cx="402336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44567" y="2907791"/>
            <a:ext cx="39867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핵심사례 20~30건 정리·저장, 근거 표준양식 확정, 인프라 2차 협의(B·D·E)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2907791"/>
            <a:ext cx="3136392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67928" y="2907791"/>
            <a:ext cx="309981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사례DB(초안), 근거 표준양식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694176"/>
            <a:ext cx="777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694176"/>
            <a:ext cx="77724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W3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80160" y="3694176"/>
            <a:ext cx="1371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98448" y="3694176"/>
            <a:ext cx="133502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9/1~9/5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3694176"/>
            <a:ext cx="187451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70048" y="3694176"/>
            <a:ext cx="1837943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수집 자동화·착수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79" y="3694176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44567" y="3694176"/>
            <a:ext cx="39867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수집 계층 자동화 시범 구축, 4개 관점 에이전트 프로토타입 설계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3694176"/>
            <a:ext cx="313639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67928" y="3694176"/>
            <a:ext cx="309981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수집 자동화 PoC, 에이전트 설계서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480560"/>
            <a:ext cx="77724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4480560"/>
            <a:ext cx="77724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W4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4480560"/>
            <a:ext cx="137160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98448" y="4480560"/>
            <a:ext cx="133502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9/8~9/12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1760" y="4480560"/>
            <a:ext cx="1874519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670048" y="4480560"/>
            <a:ext cx="1837943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에이전트 시범구축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79" y="4480560"/>
            <a:ext cx="402336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44567" y="4480560"/>
            <a:ext cx="39867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4개 관점 시제품 구축, 과거 리포트 성능 검증, 관점충돌·확신도 화면 설계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4480560"/>
            <a:ext cx="3136392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67928" y="4480560"/>
            <a:ext cx="309981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에이전트 시제품, 검증결과서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266944"/>
            <a:ext cx="777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5266944"/>
            <a:ext cx="77724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W5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80160" y="5266944"/>
            <a:ext cx="1371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298448" y="5266944"/>
            <a:ext cx="133502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9/15~9/18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1760" y="5266944"/>
            <a:ext cx="187451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670048" y="5266944"/>
            <a:ext cx="1837943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시범운영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26279" y="5266944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44567" y="5266944"/>
            <a:ext cx="39867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발행 사이클 1회 병행 적용, 채택/기각 기록 운영, 9/18 시범운영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49640" y="5266944"/>
            <a:ext cx="313639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67928" y="5266944"/>
            <a:ext cx="309981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시범 리포트, 채택/기각 로그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04.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9585655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  <a:ea typeface="SamsungOneKorean 700"/>
                <a:cs typeface="SamsungOneKorean 700"/>
              </a:rPr>
              <a:t>과업 – 산출물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0116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>
                <a:solidFill>
                  <a:srgbClr val="0072CE"/>
                </a:solidFill>
                <a:latin typeface="Arial"/>
                <a:ea typeface="SamsungOneKorean 700"/>
                <a:cs typeface="SamsungOneKorean 700"/>
              </a:rPr>
              <a:t>에스원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3657508" cy="45720"/>
          </a:xfrm>
          <a:prstGeom prst="rect">
            <a:avLst/>
          </a:prstGeom>
          <a:solidFill>
            <a:srgbClr val="FF3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8" y="6547104"/>
            <a:ext cx="8534186" cy="4572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720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0">
                <a:solidFill>
                  <a:srgbClr val="9B9B9B"/>
                </a:solidFill>
                <a:latin typeface="Arial"/>
                <a:ea typeface="SamsungOneKorean 400"/>
                <a:cs typeface="SamsungOneKorean 400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6012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0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960120"/>
            <a:ext cx="108813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각 단계 산출물이 다음 단계 입력물로 연결 — 앞 단계 지연 시 연쇄 지연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60020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1600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단계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737360"/>
            <a:ext cx="306324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737360"/>
            <a:ext cx="30632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주요 과업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737360"/>
            <a:ext cx="3108960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1737360"/>
            <a:ext cx="3108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산출물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737360"/>
            <a:ext cx="3410712" cy="384048"/>
          </a:xfrm>
          <a:prstGeom prst="rect">
            <a:avLst/>
          </a:prstGeom>
          <a:solidFill>
            <a:srgbClr val="007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737360"/>
            <a:ext cx="3410712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  <a:ea typeface="SamsungOneKorean 700"/>
                <a:cs typeface="SamsungOneKorean 700"/>
              </a:rPr>
              <a:t>다음 단계 연계(활용)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21408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121408"/>
            <a:ext cx="160020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착수·협의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21408"/>
            <a:ext cx="3063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21408" y="2121408"/>
            <a:ext cx="302666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킥오프·범위 정의, 인프라 1차 협의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121408"/>
            <a:ext cx="31089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84648" y="2121408"/>
            <a:ext cx="30723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과제정의서, 협의 회의록, 소스맵(초안)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121408"/>
            <a:ext cx="341071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2121408"/>
            <a:ext cx="337413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사례정리 범위·수집 소스 확정 근거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07791"/>
            <a:ext cx="160020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07791"/>
            <a:ext cx="160020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기준정의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907791"/>
            <a:ext cx="306324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21408" y="2907791"/>
            <a:ext cx="302666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핵심사례 20~30건 정리, 근거 표준양식 확정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2907791"/>
            <a:ext cx="310896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84648" y="2907791"/>
            <a:ext cx="30723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사례DB, 근거 표준양식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907791"/>
            <a:ext cx="3410712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8" y="2907791"/>
            <a:ext cx="337413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에이전트 학습데이터·판단근거 코드화 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694176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694176"/>
            <a:ext cx="160020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수집 자동화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694176"/>
            <a:ext cx="3063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21408" y="3694176"/>
            <a:ext cx="302666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수집 계층 자동화, 관점 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6360" y="3694176"/>
            <a:ext cx="31089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84648" y="3694176"/>
            <a:ext cx="30723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수집 자동화 PoC, 에이전트 설계서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694176"/>
            <a:ext cx="341071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93608" y="3694176"/>
            <a:ext cx="337413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에이전트 시제품 구축 기반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480560"/>
            <a:ext cx="160020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480560"/>
            <a:ext cx="160020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에이전트 구축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4480560"/>
            <a:ext cx="306324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21408" y="4480560"/>
            <a:ext cx="302666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4개 관점 시제품, 과거 리포트 검증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6360" y="4480560"/>
            <a:ext cx="3108960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84648" y="4480560"/>
            <a:ext cx="30723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에이전트 시제품, 검증결과서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4480560"/>
            <a:ext cx="3410712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93608" y="4480560"/>
            <a:ext cx="337413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시범운영 투입·성능 판정 근거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266944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266944"/>
            <a:ext cx="1600200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1050" b="0">
                <a:solidFill>
                  <a:srgbClr val="0072CE"/>
                </a:solidFill>
                <a:latin typeface="Arial"/>
                <a:ea typeface="SamsungOneKorean 600"/>
                <a:cs typeface="SamsungOneKorean 600"/>
              </a:rPr>
              <a:t>시범운영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5266944"/>
            <a:ext cx="3063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121408" y="5266944"/>
            <a:ext cx="302666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발행 1회 병행, 채택/기각 기록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66360" y="5266944"/>
            <a:ext cx="31089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84648" y="5266944"/>
            <a:ext cx="3072384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시범 리포트, 채택/기각 로그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5266944"/>
            <a:ext cx="341071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93608" y="5266944"/>
            <a:ext cx="3374136" cy="786384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04040"/>
                </a:solidFill>
                <a:latin typeface="Arial"/>
                <a:ea typeface="SamsungOneKorean 400"/>
                <a:cs typeface="SamsungOneKorean 400"/>
              </a:rPr>
              <a:t>정식운영 전환·학습 계층 루프 데이터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589</Words>
  <Application>Microsoft Office PowerPoint</Application>
  <PresentationFormat>와이드스크린</PresentationFormat>
  <Paragraphs>116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SamsungOneKorean 300</vt:lpstr>
      <vt:lpstr>SamsungOneKorean 400</vt:lpstr>
      <vt:lpstr>SamsungOneKorean 600</vt:lpstr>
      <vt:lpstr>SamsungOneKorean 700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에스원</dc:creator>
  <cp:keywords/>
  <dc:description>generated using python-pptx</dc:description>
  <cp:lastModifiedBy>에스원</cp:lastModifiedBy>
  <cp:revision>3</cp:revision>
  <dcterms:created xsi:type="dcterms:W3CDTF">2013-01-27T09:14:16Z</dcterms:created>
  <dcterms:modified xsi:type="dcterms:W3CDTF">2026-08-12T00:08:35Z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